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8" r:id="rId9"/>
    <p:sldId id="261" r:id="rId10"/>
    <p:sldId id="262" r:id="rId11"/>
    <p:sldId id="263" r:id="rId12"/>
    <p:sldId id="269" r:id="rId13"/>
    <p:sldId id="264" r:id="rId14"/>
    <p:sldId id="271" r:id="rId15"/>
    <p:sldId id="270" r:id="rId16"/>
    <p:sldId id="272" r:id="rId17"/>
    <p:sldId id="273" r:id="rId18"/>
    <p:sldId id="265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545"/>
    <a:srgbClr val="DBD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CA6E9-797C-496A-94B5-D8F49CA72C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BAABF-F8F2-4C3D-A055-31E0A1DBF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44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672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68EF-C32F-8F15-533D-830618FD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14053F2-15B5-A15E-F118-A7407163A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173BC16-F7E2-44F0-86F6-3AA78D1B8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3D3883-892E-2BC7-0958-3EE621E8D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30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3AE7-0A80-F93B-BE9C-FA2E05C2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71D982A-68DB-43D9-8963-9F6E70F90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1A4D47-0FFA-D1BD-4D52-1F07281BF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419BE8-D995-34C0-C3F2-CE2543141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718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DD8E-4461-2F03-CC93-B1DF1154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2F446F-CF9D-C907-9A4E-D978F481E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59D5A36-6D75-5F5E-8529-AD67B421F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6AEC5B-DDB2-3CA3-E93D-6EAC226E1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420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98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7ACC-3ED8-EAA2-AFAC-5D07E314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5233E1-5A1A-59D3-EBF5-A7AA5BBC7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E0F59F-BC19-CF23-7264-1DE258600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ACD4CB-A14B-1339-B3F3-D407DF010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095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B77C-C33A-CFAE-E79A-933D65B4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F78E769-D9A5-B12F-7E01-441FD43A7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521065-BA81-B04F-EFD9-FA961E8B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EC9F21-C31B-3644-883C-208F5F0C3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BAABF-F8F2-4C3D-A055-31E0A1DBFD1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64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92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83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99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31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583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76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70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5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6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11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57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CD58A-E31B-47DF-9CC9-D9089FD15A59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E12B2-7EDB-4A8F-928A-7869C83DC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288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69FE2-DBDC-8831-E733-8031DF2A6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82" y="101600"/>
            <a:ext cx="10778836" cy="4631940"/>
          </a:xfrm>
        </p:spPr>
        <p:txBody>
          <a:bodyPr>
            <a:noAutofit/>
          </a:bodyPr>
          <a:lstStyle/>
          <a:p>
            <a:r>
              <a:rPr lang="ru-RU" sz="2600" dirty="0">
                <a:latin typeface="Aptos" panose="020B0004020202020204" pitchFamily="34" charset="0"/>
              </a:rPr>
              <a:t>ОТЧЕТ</a:t>
            </a:r>
            <a:br>
              <a:rPr lang="ru-RU" sz="2600" dirty="0">
                <a:latin typeface="Aptos" panose="020B0004020202020204" pitchFamily="34" charset="0"/>
              </a:rPr>
            </a:br>
            <a:r>
              <a:rPr lang="ru-RU" sz="2600" dirty="0">
                <a:latin typeface="Aptos" panose="020B0004020202020204" pitchFamily="34" charset="0"/>
              </a:rPr>
              <a:t>по прохождению производственной (преддипломной)</a:t>
            </a:r>
            <a:br>
              <a:rPr lang="ru-RU" sz="2600" dirty="0">
                <a:latin typeface="Aptos" panose="020B0004020202020204" pitchFamily="34" charset="0"/>
              </a:rPr>
            </a:br>
            <a:r>
              <a:rPr lang="ru-RU" sz="2600" dirty="0">
                <a:latin typeface="Aptos" panose="020B0004020202020204" pitchFamily="34" charset="0"/>
              </a:rPr>
              <a:t>практики</a:t>
            </a:r>
            <a:br>
              <a:rPr lang="ru-RU" sz="2600" dirty="0">
                <a:latin typeface="Aptos" panose="020B0004020202020204" pitchFamily="34" charset="0"/>
              </a:rPr>
            </a:br>
            <a:r>
              <a:rPr lang="ru-RU" sz="2000" dirty="0">
                <a:solidFill>
                  <a:srgbClr val="DBD4C3"/>
                </a:solidFill>
                <a:latin typeface="Aptos" panose="020B0004020202020204" pitchFamily="34" charset="0"/>
              </a:rPr>
              <a:t>ц</a:t>
            </a:r>
            <a:br>
              <a:rPr lang="ru-RU" sz="2600" dirty="0">
                <a:latin typeface="Aptos" panose="020B0004020202020204" pitchFamily="34" charset="0"/>
              </a:rPr>
            </a:br>
            <a:r>
              <a:rPr lang="ru-RU" sz="2600" dirty="0">
                <a:latin typeface="Aptos" panose="020B0004020202020204" pitchFamily="34" charset="0"/>
              </a:rPr>
              <a:t>Направление подготовки/специальность: </a:t>
            </a:r>
            <a:r>
              <a:rPr lang="ru-RU" sz="2600" u="sng" dirty="0">
                <a:latin typeface="Aptos" panose="020B0004020202020204" pitchFamily="34" charset="0"/>
              </a:rPr>
              <a:t>01.03.02 «Прикладная математика и информатика»</a:t>
            </a:r>
            <a:br>
              <a:rPr lang="ru-RU" sz="2600" u="sng" dirty="0">
                <a:latin typeface="Aptos" panose="020B0004020202020204" pitchFamily="34" charset="0"/>
              </a:rPr>
            </a:br>
            <a:r>
              <a:rPr lang="ru-RU" sz="1600" i="1" dirty="0">
                <a:latin typeface="Aptos" panose="020B0004020202020204" pitchFamily="34" charset="0"/>
              </a:rPr>
              <a:t>(Код и наименование направления подготовки)</a:t>
            </a:r>
            <a:br>
              <a:rPr lang="ru-RU" sz="1600" i="1" dirty="0">
                <a:latin typeface="Aptos" panose="020B0004020202020204" pitchFamily="34" charset="0"/>
              </a:rPr>
            </a:br>
            <a:r>
              <a:rPr lang="ru-RU" sz="2000" i="1" dirty="0">
                <a:solidFill>
                  <a:srgbClr val="DBD4C3"/>
                </a:solidFill>
                <a:latin typeface="Aptos" panose="020B0004020202020204" pitchFamily="34" charset="0"/>
              </a:rPr>
              <a:t>ц</a:t>
            </a:r>
            <a:br>
              <a:rPr lang="ru-RU" sz="2600" dirty="0">
                <a:latin typeface="Aptos" panose="020B0004020202020204" pitchFamily="34" charset="0"/>
              </a:rPr>
            </a:br>
            <a:r>
              <a:rPr lang="ru-RU" sz="2600" dirty="0">
                <a:latin typeface="Aptos" panose="020B0004020202020204" pitchFamily="34" charset="0"/>
              </a:rPr>
              <a:t>Образовательная программа: </a:t>
            </a:r>
            <a:r>
              <a:rPr lang="ru-RU" sz="2600" u="sng" dirty="0">
                <a:latin typeface="Aptos" panose="020B0004020202020204" pitchFamily="34" charset="0"/>
              </a:rPr>
              <a:t>«Математическое моделирование и компьютерные технологии»</a:t>
            </a:r>
            <a:br>
              <a:rPr lang="ru-RU" sz="2600" u="sng" dirty="0">
                <a:latin typeface="Aptos" panose="020B0004020202020204" pitchFamily="34" charset="0"/>
              </a:rPr>
            </a:br>
            <a:r>
              <a:rPr lang="ru-RU" sz="2000" dirty="0">
                <a:solidFill>
                  <a:srgbClr val="DBD4C3"/>
                </a:solidFill>
                <a:latin typeface="Aptos" panose="020B0004020202020204" pitchFamily="34" charset="0"/>
              </a:rPr>
              <a:t>ц</a:t>
            </a:r>
            <a:br>
              <a:rPr lang="ru-RU" sz="2600" dirty="0">
                <a:latin typeface="Aptos" panose="020B0004020202020204" pitchFamily="34" charset="0"/>
              </a:rPr>
            </a:br>
            <a:r>
              <a:rPr lang="ru-RU" sz="2600" dirty="0">
                <a:latin typeface="Aptos" panose="020B0004020202020204" pitchFamily="34" charset="0"/>
              </a:rPr>
              <a:t>Тема: «Анализ особенностей гидрофизических полей в северо-восточной части Черного моря на основе данных натурных измерений»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6B8850-99A4-7A2E-ECDB-E517F2335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2065" y="4615897"/>
            <a:ext cx="4838396" cy="1972060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ru-RU" sz="1800" dirty="0">
                <a:latin typeface="Aptos" panose="020B0004020202020204" pitchFamily="34" charset="0"/>
              </a:rPr>
              <a:t>Выполнила: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ru-RU" sz="1800" dirty="0">
                <a:latin typeface="Aptos" panose="020B0004020202020204" pitchFamily="34" charset="0"/>
              </a:rPr>
              <a:t>Студент гр. 22-ПМ-1 Лагунова Л.А.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ru-RU" sz="1800" dirty="0">
                <a:latin typeface="Aptos" panose="020B0004020202020204" pitchFamily="34" charset="0"/>
              </a:rPr>
              <a:t>Руководитель практики от кафедры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ru-RU" sz="1800" dirty="0">
                <a:latin typeface="Aptos" panose="020B0004020202020204" pitchFamily="34" charset="0"/>
              </a:rPr>
              <a:t>доцент, к. ф.-</a:t>
            </a:r>
            <a:r>
              <a:rPr lang="ru-RU" sz="1800" dirty="0" err="1">
                <a:latin typeface="Aptos" panose="020B0004020202020204" pitchFamily="34" charset="0"/>
              </a:rPr>
              <a:t>м.н</a:t>
            </a:r>
            <a:r>
              <a:rPr lang="ru-RU" sz="1800" dirty="0">
                <a:latin typeface="Aptos" panose="020B0004020202020204" pitchFamily="34" charset="0"/>
              </a:rPr>
              <a:t>. Куркина О.Е.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ru-RU" sz="1800" dirty="0">
                <a:latin typeface="Aptos" panose="020B0004020202020204" pitchFamily="34" charset="0"/>
              </a:rPr>
              <a:t>Руководитель производственной практики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ru-RU" sz="1800" dirty="0" err="1">
                <a:latin typeface="Aptos" panose="020B0004020202020204" pitchFamily="34" charset="0"/>
              </a:rPr>
              <a:t>к.г.н</a:t>
            </a:r>
            <a:r>
              <a:rPr lang="ru-RU" sz="1800" dirty="0">
                <a:latin typeface="Aptos" panose="020B0004020202020204" pitchFamily="34" charset="0"/>
              </a:rPr>
              <a:t>., </a:t>
            </a:r>
            <a:r>
              <a:rPr lang="ru-RU" sz="1800" dirty="0" err="1">
                <a:latin typeface="Aptos" panose="020B0004020202020204" pitchFamily="34" charset="0"/>
              </a:rPr>
              <a:t>ст.н.с</a:t>
            </a:r>
            <a:r>
              <a:rPr lang="ru-RU" sz="1800" dirty="0">
                <a:latin typeface="Aptos" panose="020B0004020202020204" pitchFamily="34" charset="0"/>
              </a:rPr>
              <a:t> ИО РАН  Химченко Е.Е.</a:t>
            </a:r>
          </a:p>
        </p:txBody>
      </p:sp>
    </p:spTree>
    <p:extLst>
      <p:ext uri="{BB962C8B-B14F-4D97-AF65-F5344CB8AC3E}">
        <p14:creationId xmlns:p14="http://schemas.microsoft.com/office/powerpoint/2010/main" val="357262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B6857-A4F7-D651-1ED0-D4DED4F1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041" y="0"/>
            <a:ext cx="10635917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Объект, предмет, актуальность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2F94CC-8E09-3EAB-D5F4-2BAC2D2D8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10" y="1151312"/>
            <a:ext cx="10515600" cy="523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b="1" dirty="0">
                <a:latin typeface="Aptos" panose="020B0004020202020204" pitchFamily="34" charset="0"/>
              </a:rPr>
              <a:t>Объект исследования – </a:t>
            </a:r>
            <a:r>
              <a:rPr lang="ru-RU" sz="2600" dirty="0">
                <a:latin typeface="Aptos" panose="020B0004020202020204" pitchFamily="34" charset="0"/>
              </a:rPr>
              <a:t>гидрофизические поля северо-восточной части Черного моря.</a:t>
            </a:r>
          </a:p>
          <a:p>
            <a:pPr marL="0" indent="0">
              <a:buNone/>
            </a:pPr>
            <a:r>
              <a:rPr lang="ru-RU" sz="2600" b="1" dirty="0">
                <a:latin typeface="Aptos" panose="020B0004020202020204" pitchFamily="34" charset="0"/>
              </a:rPr>
              <a:t>Предмет исследования - </a:t>
            </a:r>
            <a:r>
              <a:rPr lang="ru-RU" sz="2600" dirty="0">
                <a:latin typeface="Aptos" panose="020B0004020202020204" pitchFamily="34" charset="0"/>
              </a:rPr>
              <a:t>проявление внутренних волн, их характеристики и структура течений.</a:t>
            </a:r>
          </a:p>
          <a:p>
            <a:pPr marL="0" indent="0">
              <a:buNone/>
            </a:pPr>
            <a:r>
              <a:rPr lang="ru-RU" sz="2600" b="1" dirty="0">
                <a:latin typeface="Aptos" panose="020B0004020202020204" pitchFamily="34" charset="0"/>
              </a:rPr>
              <a:t>Актуальность </a:t>
            </a:r>
            <a:r>
              <a:rPr lang="ru-RU" sz="2600" dirty="0">
                <a:latin typeface="Aptos" panose="020B0004020202020204" pitchFamily="34" charset="0"/>
              </a:rPr>
              <a:t>работы обусловлена тем, что её результаты помогут глубже понять механизмы формирования прибрежных течений и внутренних волн, их прогнозирование и влияние на экосистему акватории. </a:t>
            </a:r>
          </a:p>
          <a:p>
            <a:pPr marL="0" indent="0">
              <a:buNone/>
            </a:pPr>
            <a:r>
              <a:rPr lang="ru-RU" sz="2600" b="1" dirty="0">
                <a:latin typeface="Aptos" panose="020B0004020202020204" pitchFamily="34" charset="0"/>
              </a:rPr>
              <a:t>Новизна</a:t>
            </a:r>
            <a:r>
              <a:rPr lang="ru-RU" sz="2600" dirty="0">
                <a:latin typeface="Aptos" panose="020B0004020202020204" pitchFamily="34" charset="0"/>
              </a:rPr>
              <a:t> заключается в определении статистических характеристик внутренних волн для исследуемого района.</a:t>
            </a:r>
            <a:endParaRPr lang="ru-RU" sz="2600" b="1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990DA69-6392-930D-0D10-FCD4BA020B42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3394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5E5B4-36EF-A4A2-0131-3AC22365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A24EC-374F-01CE-34E5-7F15E364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09" y="-189540"/>
            <a:ext cx="10635917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CDC94-5AF3-93FD-AA43-BC7076CDD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09" y="728326"/>
            <a:ext cx="11345781" cy="540134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Обобщить гидрофизические условия северо-восточной части Чёрного моря, режим прибрежных течений и изученность внутренних волн на шельфе.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Подготовить натурные данные: выполнить чтение, усреднение, синхронизацию и отбор непрерывных участков рядов температуры, глубины и скорости течений.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Построить временно-глубинные поля температуры и плотности, определить изотермы и рассчитать профиль частоты </a:t>
            </a:r>
            <a:r>
              <a:rPr lang="ru-RU" sz="2200" dirty="0" err="1">
                <a:latin typeface="Aptos" panose="020B0004020202020204" pitchFamily="34" charset="0"/>
              </a:rPr>
              <a:t>Вяйсяля</a:t>
            </a:r>
            <a:r>
              <a:rPr lang="ru-RU" sz="2200" dirty="0">
                <a:latin typeface="Aptos" panose="020B0004020202020204" pitchFamily="34" charset="0"/>
              </a:rPr>
              <a:t>–Брента.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Проанализировать режим течений по данным ADCP: компоненты, модуль, направление, повторяемость, спектры и прогрессивные диаграммы.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Выполнить спектральный анализ вертикальных смещений изотерм (ДПФ, периодограммы, СПМ).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Сопоставить спектры смещений изотерм с частотами водной толщи и модельным спектром Гарретта–Манка.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Выделить короткопериодные внутренние волны и цуги, определить их высоты, периоды и повторяемость.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Рассчитать статистики параметров волн, построить гистограммы и проверить вероятностные модели.</a:t>
            </a:r>
          </a:p>
          <a:p>
            <a:pPr>
              <a:spcBef>
                <a:spcPts val="0"/>
              </a:spcBef>
            </a:pPr>
            <a:r>
              <a:rPr lang="ru-RU" sz="2200" dirty="0">
                <a:latin typeface="Aptos" panose="020B0004020202020204" pitchFamily="34" charset="0"/>
              </a:rPr>
              <a:t>Сравнить параметры наблюдаемых волн с данными предыдущих исследований для других сезонов и районов Чёрного моря.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2E5D40D-C2EA-1F3E-A2D4-E7759A5F55AB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053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FFD67-CFAA-A1FF-C6B6-CFD32B64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1E41D-28DB-8AF6-DA5C-065EC72D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09" y="0"/>
            <a:ext cx="10635917" cy="9178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Внутренние волны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F90B64-3AD9-70C7-F1CB-D42EC66E4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09" y="728326"/>
            <a:ext cx="11345781" cy="54013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Aptos" panose="020B0004020202020204" pitchFamily="34" charset="0"/>
              </a:rPr>
              <a:t>Внутренние волны</a:t>
            </a:r>
            <a:r>
              <a:rPr lang="ru-RU" sz="2400" dirty="0">
                <a:latin typeface="Aptos" panose="020B0004020202020204" pitchFamily="34" charset="0"/>
              </a:rPr>
              <a:t> — это гравитационные колебания в стратифицированной водной толще, возникающие на границе раздела слоёв различной плотности (например, термоклина).</a:t>
            </a:r>
          </a:p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Чёрное море является </a:t>
            </a:r>
            <a:r>
              <a:rPr lang="ru-RU" sz="2400" dirty="0" err="1">
                <a:latin typeface="Aptos" panose="020B0004020202020204" pitchFamily="34" charset="0"/>
              </a:rPr>
              <a:t>бесприливным</a:t>
            </a:r>
            <a:r>
              <a:rPr lang="ru-RU" sz="2400" dirty="0">
                <a:latin typeface="Aptos" panose="020B0004020202020204" pitchFamily="34" charset="0"/>
              </a:rPr>
              <a:t> бассейном, поэтому генерация внутренних волн обусловлена меандрированием Основного черноморского течения, прохождением </a:t>
            </a:r>
            <a:r>
              <a:rPr lang="ru-RU" sz="2400" dirty="0" err="1">
                <a:latin typeface="Aptos" panose="020B0004020202020204" pitchFamily="34" charset="0"/>
              </a:rPr>
              <a:t>субмезомасштабных</a:t>
            </a:r>
            <a:r>
              <a:rPr lang="ru-RU" sz="2400" dirty="0">
                <a:latin typeface="Aptos" panose="020B0004020202020204" pitchFamily="34" charset="0"/>
              </a:rPr>
              <a:t> вихрей, взаимодействием течений с рельефом дна и атмосферными возмущениями. </a:t>
            </a:r>
          </a:p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Выделяются два основных диапазона: </a:t>
            </a:r>
          </a:p>
          <a:p>
            <a:r>
              <a:rPr lang="ru-RU" sz="2400" dirty="0" err="1">
                <a:latin typeface="Aptos" panose="020B0004020202020204" pitchFamily="34" charset="0"/>
              </a:rPr>
              <a:t>квазиинерционные</a:t>
            </a:r>
            <a:r>
              <a:rPr lang="ru-RU" sz="2400" dirty="0">
                <a:latin typeface="Aptos" panose="020B0004020202020204" pitchFamily="34" charset="0"/>
              </a:rPr>
              <a:t> волны с периодом около 17 ч (амплитуды 5–7 м на геленджикском шельфе)</a:t>
            </a:r>
          </a:p>
          <a:p>
            <a:r>
              <a:rPr lang="ru-RU" sz="2400" dirty="0">
                <a:latin typeface="Aptos" panose="020B0004020202020204" pitchFamily="34" charset="0"/>
              </a:rPr>
              <a:t>короткопериодные внутренние волны с периодами от единиц до десятков минут (амплитуды от 0,5 до нескольких метров). </a:t>
            </a:r>
          </a:p>
          <a:p>
            <a:pPr marL="0" indent="0">
              <a:buNone/>
            </a:pPr>
            <a:endParaRPr lang="ru-RU" sz="22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76FFEB9-45EB-D6BE-FD63-524F5D889EED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457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AB765-7445-04FA-81F1-A273A5B4A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7F0B4-684A-2664-B713-3E10492C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4" y="119210"/>
            <a:ext cx="9899795" cy="88440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Район наблюдений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5CFD1-79D0-633C-861A-6C30190C5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81" y="730492"/>
            <a:ext cx="11446837" cy="2513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300" b="1" dirty="0">
                <a:latin typeface="Aptos" panose="020B0004020202020204" pitchFamily="34" charset="0"/>
              </a:rPr>
              <a:t>Район наблюдений расположен </a:t>
            </a:r>
            <a:r>
              <a:rPr lang="ru-RU" sz="2300" dirty="0">
                <a:latin typeface="Aptos" panose="020B0004020202020204" pitchFamily="34" charset="0"/>
              </a:rPr>
              <a:t>в акватории Голубой бухты (г. Геленджик, Краснодарский край) – части Черного моря в его северо-восточном секторе. Географические координаты полигона – около 44°33–34ʹ </a:t>
            </a:r>
            <a:r>
              <a:rPr lang="ru-RU" sz="2300" dirty="0" err="1">
                <a:latin typeface="Aptos" panose="020B0004020202020204" pitchFamily="34" charset="0"/>
              </a:rPr>
              <a:t>с.ш</a:t>
            </a:r>
            <a:r>
              <a:rPr lang="ru-RU" sz="2300" dirty="0">
                <a:latin typeface="Aptos" panose="020B0004020202020204" pitchFamily="34" charset="0"/>
              </a:rPr>
              <a:t>., 37°58ʹ </a:t>
            </a:r>
            <a:r>
              <a:rPr lang="ru-RU" sz="2300" dirty="0" err="1">
                <a:latin typeface="Aptos" panose="020B0004020202020204" pitchFamily="34" charset="0"/>
              </a:rPr>
              <a:t>в.д</a:t>
            </a:r>
            <a:r>
              <a:rPr lang="ru-RU" sz="2300" dirty="0">
                <a:latin typeface="Aptos" panose="020B0004020202020204" pitchFamily="34" charset="0"/>
              </a:rPr>
              <a:t>. Голубая бухта является акваторией геленджикского </a:t>
            </a:r>
            <a:r>
              <a:rPr lang="ru-RU" sz="2300" dirty="0" err="1">
                <a:latin typeface="Aptos" panose="020B0004020202020204" pitchFamily="34" charset="0"/>
              </a:rPr>
              <a:t>подспутникового</a:t>
            </a:r>
            <a:r>
              <a:rPr lang="ru-RU" sz="2300" dirty="0">
                <a:latin typeface="Aptos" panose="020B0004020202020204" pitchFamily="34" charset="0"/>
              </a:rPr>
              <a:t> гидрофизического полигона Института океанологии им. П.П. Ширшова РАН.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E2F1B2D-6E55-E8DC-0B09-999F9C0EAA08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5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282E6B-92FE-FB69-AFBA-5C9BD7EB0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67657" y="2406338"/>
            <a:ext cx="4465349" cy="3494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D43FE4-6149-30B2-EAA2-1D067A7C4D37}"/>
              </a:ext>
            </a:extLst>
          </p:cNvPr>
          <p:cNvSpPr txBox="1"/>
          <p:nvPr/>
        </p:nvSpPr>
        <p:spPr>
          <a:xfrm>
            <a:off x="7067656" y="5900551"/>
            <a:ext cx="4465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Рис. 1 – Снимок со спутника Голубой Бухты (Геленджик) 22.06.2023 03:33 </a:t>
            </a:r>
            <a:endParaRPr lang="ru-RU" sz="2000" dirty="0">
              <a:solidFill>
                <a:schemeClr val="tx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9B4978-C27D-2078-E1CE-4B69983ED08C}"/>
              </a:ext>
            </a:extLst>
          </p:cNvPr>
          <p:cNvSpPr txBox="1"/>
          <p:nvPr/>
        </p:nvSpPr>
        <p:spPr>
          <a:xfrm>
            <a:off x="372581" y="2406338"/>
            <a:ext cx="6593493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2300" b="1" dirty="0">
                <a:latin typeface="Aptos" panose="020B0004020202020204" pitchFamily="34" charset="0"/>
              </a:rPr>
              <a:t>Гидрофизические условия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300" b="1" dirty="0">
                <a:latin typeface="Aptos" panose="020B0004020202020204" pitchFamily="34" charset="0"/>
              </a:rPr>
              <a:t>северо-восточной части Чёрного моря</a:t>
            </a:r>
            <a:endParaRPr lang="ru-RU" sz="23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ru-RU" sz="2300" dirty="0">
                <a:latin typeface="Aptos" panose="020B0004020202020204" pitchFamily="34" charset="0"/>
              </a:rPr>
              <a:t>Шельф пологий, ширина 5–15 км, переходит в материковый склон. Гидродинамика определяется Основным черноморским течением (ОЧТ) и </a:t>
            </a:r>
            <a:r>
              <a:rPr lang="ru-RU" sz="2300" dirty="0" err="1">
                <a:latin typeface="Aptos" panose="020B0004020202020204" pitchFamily="34" charset="0"/>
              </a:rPr>
              <a:t>субмезомасштабными</a:t>
            </a:r>
            <a:r>
              <a:rPr lang="ru-RU" sz="2300" dirty="0">
                <a:latin typeface="Aptos" panose="020B0004020202020204" pitchFamily="34" charset="0"/>
              </a:rPr>
              <a:t> вихрями (антициклоны 3–6 км, циклоны 2–4 км). В летний период формируется выраженный термоклин на горизонтах 7–15 м с перепадом температуры 6–8 °С.</a:t>
            </a:r>
            <a:br>
              <a:rPr lang="ru-RU" sz="2300" dirty="0">
                <a:latin typeface="Aptos" panose="020B0004020202020204" pitchFamily="34" charset="0"/>
              </a:rPr>
            </a:br>
            <a:endParaRPr lang="ru-RU" sz="23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39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BD73D-2DB8-E696-6D30-88719984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22FA0-1935-CA09-407B-ABBE8E94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993" y="99882"/>
            <a:ext cx="5260014" cy="884406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latin typeface="Aptos" panose="020B0004020202020204" pitchFamily="34" charset="0"/>
              </a:rPr>
              <a:t>Используемые приборы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B07AA0-ABDF-87E0-9BD0-E81904F04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10" y="1067763"/>
            <a:ext cx="3812006" cy="51642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В акватории развёрнуты четыре </a:t>
            </a:r>
            <a:r>
              <a:rPr lang="ru-RU" sz="2400" dirty="0" err="1">
                <a:latin typeface="Aptos" panose="020B0004020202020204" pitchFamily="34" charset="0"/>
              </a:rPr>
              <a:t>термокосы</a:t>
            </a:r>
            <a:r>
              <a:rPr lang="ru-RU" sz="2400" dirty="0">
                <a:latin typeface="Aptos" panose="020B0004020202020204" pitchFamily="34" charset="0"/>
              </a:rPr>
              <a:t> (Т1–Т4). Основной анализ выполнен по данным </a:t>
            </a:r>
            <a:r>
              <a:rPr lang="ru-RU" sz="2400" dirty="0" err="1">
                <a:latin typeface="Aptos" panose="020B0004020202020204" pitchFamily="34" charset="0"/>
              </a:rPr>
              <a:t>термокосы</a:t>
            </a:r>
            <a:r>
              <a:rPr lang="ru-RU" sz="2400" dirty="0">
                <a:latin typeface="Aptos" panose="020B0004020202020204" pitchFamily="34" charset="0"/>
              </a:rPr>
              <a:t> Т4 – гирлянда датчиков DST </a:t>
            </a:r>
            <a:r>
              <a:rPr lang="ru-RU" sz="2400" dirty="0" err="1">
                <a:latin typeface="Aptos" panose="020B0004020202020204" pitchFamily="34" charset="0"/>
              </a:rPr>
              <a:t>centi</a:t>
            </a:r>
            <a:r>
              <a:rPr lang="ru-RU" sz="2400" dirty="0">
                <a:latin typeface="Aptos" panose="020B0004020202020204" pitchFamily="34" charset="0"/>
              </a:rPr>
              <a:t>-T с шагом 1 м, точность ±0.01°С, дискретность 10 с (усреднение 30 с).</a:t>
            </a:r>
          </a:p>
          <a:p>
            <a:pPr marL="0" indent="0">
              <a:buNone/>
            </a:pPr>
            <a:br>
              <a:rPr lang="ru-RU" sz="2400" dirty="0">
                <a:latin typeface="Aptos" panose="020B0004020202020204" pitchFamily="34" charset="0"/>
              </a:rPr>
            </a:br>
            <a:r>
              <a:rPr lang="ru-RU" sz="2400" dirty="0">
                <a:latin typeface="Aptos" panose="020B0004020202020204" pitchFamily="34" charset="0"/>
              </a:rPr>
              <a:t>ADCP RDI 600 кГц стоял рядом с </a:t>
            </a:r>
            <a:r>
              <a:rPr lang="ru-RU" sz="2400" dirty="0" err="1">
                <a:latin typeface="Aptos" panose="020B0004020202020204" pitchFamily="34" charset="0"/>
              </a:rPr>
              <a:t>термокосами</a:t>
            </a:r>
            <a:r>
              <a:rPr lang="ru-RU" sz="2400" dirty="0">
                <a:latin typeface="Aptos" panose="020B0004020202020204" pitchFamily="34" charset="0"/>
              </a:rPr>
              <a:t>, регистрировал профили скоростей U,V (шаг 10.2 с, горизонты 2–21 м).</a:t>
            </a:r>
            <a:br>
              <a:rPr lang="ru-RU" sz="2200" dirty="0">
                <a:latin typeface="Aptos" panose="020B0004020202020204" pitchFamily="34" charset="0"/>
              </a:rPr>
            </a:br>
            <a:endParaRPr lang="ru-RU" sz="22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F4F2650-8198-AB4C-7921-645333F38A4A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9792BE-2F5F-7D6C-068F-2B6FC6D06168}"/>
              </a:ext>
            </a:extLst>
          </p:cNvPr>
          <p:cNvSpPr txBox="1"/>
          <p:nvPr/>
        </p:nvSpPr>
        <p:spPr>
          <a:xfrm>
            <a:off x="4380186" y="5742455"/>
            <a:ext cx="74920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Рис. 2 – </a:t>
            </a:r>
            <a:r>
              <a:rPr lang="ru-RU" sz="2000" dirty="0">
                <a:latin typeface="Aptos" panose="020B0004020202020204" pitchFamily="34" charset="0"/>
              </a:rPr>
              <a:t>Схема </a:t>
            </a:r>
            <a:r>
              <a:rPr lang="ru-RU" sz="2000" dirty="0" err="1">
                <a:latin typeface="Aptos" panose="020B0004020202020204" pitchFamily="34" charset="0"/>
              </a:rPr>
              <a:t>термокос</a:t>
            </a:r>
            <a:r>
              <a:rPr lang="ru-RU" sz="2000" dirty="0">
                <a:latin typeface="Aptos" panose="020B0004020202020204" pitchFamily="34" charset="0"/>
              </a:rPr>
              <a:t> Т1-Т4 с отмеченными датчиками (красный) и их медианными глубинами.</a:t>
            </a:r>
          </a:p>
          <a:p>
            <a:pPr algn="ctr"/>
            <a:endParaRPr lang="ru-RU" sz="2000" dirty="0">
              <a:latin typeface="Aptos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4688EE-7204-2834-6342-66EE745C7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186" y="877413"/>
            <a:ext cx="7492051" cy="4816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595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BE395-E15D-5392-C0B3-68B0C7A64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2AC8C-6320-0B6B-A911-89D8A7D5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09" y="0"/>
            <a:ext cx="10635917" cy="9178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Предварительная обработка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286A95-DAF9-26E7-87FB-F47C57E43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09" y="728326"/>
            <a:ext cx="11345781" cy="5401347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Aptos" panose="020B0004020202020204" pitchFamily="34" charset="0"/>
              </a:rPr>
              <a:t>Чтение</a:t>
            </a:r>
            <a:r>
              <a:rPr lang="ru-RU" sz="2400" dirty="0">
                <a:latin typeface="Aptos" panose="020B0004020202020204" pitchFamily="34" charset="0"/>
              </a:rPr>
              <a:t> – загрузка исходных файлов с </a:t>
            </a:r>
            <a:r>
              <a:rPr lang="ru-RU" sz="2400" dirty="0" err="1">
                <a:latin typeface="Aptos" panose="020B0004020202020204" pitchFamily="34" charset="0"/>
              </a:rPr>
              <a:t>термокос</a:t>
            </a:r>
            <a:r>
              <a:rPr lang="ru-RU" sz="2400" dirty="0">
                <a:latin typeface="Aptos" panose="020B0004020202020204" pitchFamily="34" charset="0"/>
              </a:rPr>
              <a:t> (температура, глубина датчиков) и ADCP (компоненты скорости течений U, V, временные метки).</a:t>
            </a:r>
          </a:p>
          <a:p>
            <a:r>
              <a:rPr lang="ru-RU" sz="2400" b="1" dirty="0">
                <a:latin typeface="Aptos" panose="020B0004020202020204" pitchFamily="34" charset="0"/>
              </a:rPr>
              <a:t>Усреднение</a:t>
            </a:r>
            <a:r>
              <a:rPr lang="ru-RU" sz="2400" dirty="0">
                <a:latin typeface="Aptos" panose="020B0004020202020204" pitchFamily="34" charset="0"/>
              </a:rPr>
              <a:t> – снижение инструментального шума и мелкомасштабной турбулентности. Для температуры выбрано 30-секундное осреднение: оно подавляет флуктуации с периодами менее 1 минуты, не влияя на внутренние волны (периоды от 1,5 минут и более). Для данных ADCP применено 30-минутное осреднение, что позволяет исключить высокочастотные пульсации и выделить устойчивую мезомасштабную структуру течений.</a:t>
            </a:r>
          </a:p>
          <a:p>
            <a:r>
              <a:rPr lang="ru-RU" sz="2400" b="1" dirty="0">
                <a:latin typeface="Aptos" panose="020B0004020202020204" pitchFamily="34" charset="0"/>
              </a:rPr>
              <a:t>Синхронизация</a:t>
            </a:r>
            <a:r>
              <a:rPr lang="ru-RU" sz="2400" dirty="0">
                <a:latin typeface="Aptos" panose="020B0004020202020204" pitchFamily="34" charset="0"/>
              </a:rPr>
              <a:t> – приведение временных меток всех приборов к единой шкале, обеспечивающее корректное сопоставление колебаний температуры и скорости течений в одни и те же моменты времени.</a:t>
            </a:r>
          </a:p>
          <a:p>
            <a:r>
              <a:rPr lang="ru-RU" sz="2400" b="1" dirty="0">
                <a:latin typeface="Aptos" panose="020B0004020202020204" pitchFamily="34" charset="0"/>
              </a:rPr>
              <a:t>Отбор непрерывных участков</a:t>
            </a:r>
            <a:r>
              <a:rPr lang="ru-RU" sz="2400" dirty="0">
                <a:latin typeface="Aptos" panose="020B0004020202020204" pitchFamily="34" charset="0"/>
              </a:rPr>
              <a:t> – выделение интервалов записи без пропусков, сбоев и артефактов. Только на таких участках в дальнейшем выполняются спектральный анализ, выделение волн и расчёт статистических характеристик.</a:t>
            </a:r>
            <a:br>
              <a:rPr lang="ru-RU" dirty="0"/>
            </a:br>
            <a:endParaRPr lang="ru-RU" sz="22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E3AA39C-C7B5-9CD9-4991-EBC77DE87E13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906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90A6F-405D-3E5A-4E30-129070CB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44E06-EFD8-9259-DA36-6AE74167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75" y="337369"/>
            <a:ext cx="10831448" cy="91786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Построение временно-глубинных полей температуры и плотности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7268B8-93CA-1B05-19E5-EE44FA07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23" y="4953399"/>
            <a:ext cx="5672890" cy="5103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Aptos" panose="020B0004020202020204" pitchFamily="34" charset="0"/>
              </a:rPr>
              <a:t>Рис. 3 -Временная изменчивость температуры по данным станции Т4 в период с 14 по 23 июня 2023г.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C71BB6F-B6E8-E131-A841-C870CB1D7CA9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E387A8-8F7A-6FC3-6110-BE80A6DE89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80"/>
          <a:stretch>
            <a:fillRect/>
          </a:stretch>
        </p:blipFill>
        <p:spPr>
          <a:xfrm>
            <a:off x="204537" y="1833591"/>
            <a:ext cx="5891463" cy="31198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82F679-3444-5A12-07D1-1AE3DCBD89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80"/>
          <a:stretch>
            <a:fillRect/>
          </a:stretch>
        </p:blipFill>
        <p:spPr>
          <a:xfrm>
            <a:off x="6095999" y="1833591"/>
            <a:ext cx="5891463" cy="31198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493896-AF22-867A-2ABD-9D8E1AAB37FE}"/>
              </a:ext>
            </a:extLst>
          </p:cNvPr>
          <p:cNvSpPr txBox="1"/>
          <p:nvPr/>
        </p:nvSpPr>
        <p:spPr>
          <a:xfrm>
            <a:off x="5888588" y="4885424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Рис. 4 – Поле временной изменчивости плотности, </a:t>
            </a:r>
            <a:r>
              <a:rPr lang="ru-RU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расчитаный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по стандарту 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TEOS-10.</a:t>
            </a:r>
            <a:endParaRPr lang="ru-RU" sz="16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6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F928C-F3FF-F3BE-8966-CFA497DE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FD5FF-4D72-AB5E-C298-B87EC96F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10" y="99882"/>
            <a:ext cx="11449127" cy="884406"/>
          </a:xfrm>
        </p:spPr>
        <p:txBody>
          <a:bodyPr>
            <a:noAutofit/>
          </a:bodyPr>
          <a:lstStyle/>
          <a:p>
            <a:pPr algn="ctr"/>
            <a:r>
              <a:rPr lang="ru-RU" sz="3500" b="1" dirty="0">
                <a:latin typeface="Aptos" panose="020B0004020202020204" pitchFamily="34" charset="0"/>
              </a:rPr>
              <a:t>Диапазон внутренних волн. Расчет частоты </a:t>
            </a:r>
            <a:r>
              <a:rPr lang="ru-RU" sz="3500" b="1" dirty="0" err="1">
                <a:latin typeface="Aptos" panose="020B0004020202020204" pitchFamily="34" charset="0"/>
              </a:rPr>
              <a:t>Вяйсяля</a:t>
            </a:r>
            <a:r>
              <a:rPr lang="ru-RU" sz="3500" b="1" dirty="0">
                <a:latin typeface="Aptos" panose="020B0004020202020204" pitchFamily="34" charset="0"/>
              </a:rPr>
              <a:t> Брента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40F2A8-8E74-F574-696A-A270D4D79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3108" y="984287"/>
                <a:ext cx="6790643" cy="56224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b="1" dirty="0">
                    <a:latin typeface="Aptos" panose="020B0004020202020204" pitchFamily="34" charset="0"/>
                  </a:rPr>
                  <a:t>Частота </a:t>
                </a:r>
                <a:r>
                  <a:rPr lang="ru-RU" sz="2200" b="1" dirty="0" err="1">
                    <a:latin typeface="Aptos" panose="020B0004020202020204" pitchFamily="34" charset="0"/>
                  </a:rPr>
                  <a:t>Вяйсяля</a:t>
                </a:r>
                <a:r>
                  <a:rPr lang="ru-RU" sz="2200" b="1" dirty="0">
                    <a:latin typeface="Aptos" panose="020B0004020202020204" pitchFamily="34" charset="0"/>
                  </a:rPr>
                  <a:t>–Брента </a:t>
                </a:r>
                <a14:m>
                  <m:oMath xmlns:m="http://schemas.openxmlformats.org/officeDocument/2006/math">
                    <m:r>
                      <a:rPr lang="ru-RU" sz="2200" i="1"/>
                      <m:t>𝑁</m:t>
                    </m:r>
                    <m:d>
                      <m:dPr>
                        <m:ctrlPr>
                          <a:rPr lang="ru-RU" sz="2200" i="1"/>
                        </m:ctrlPr>
                      </m:dPr>
                      <m:e>
                        <m:r>
                          <a:rPr lang="ru-RU" sz="2200" i="1"/>
                          <m:t>𝑧</m:t>
                        </m:r>
                      </m:e>
                    </m:d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является верхней границей частотного диапазона внутренних волн и характеризует устойчивость стратификации. Она рассчитывается по вертикальному профилю плотности: </a:t>
                </a:r>
                <a14:m>
                  <m:oMath xmlns:m="http://schemas.openxmlformats.org/officeDocument/2006/math">
                    <m:r>
                      <a:rPr lang="ru-RU" sz="22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ru-RU" sz="22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ru-RU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den>
                        </m:f>
                        <m:f>
                          <m:fPr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ru-RU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2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num>
                          <m:den>
                            <m:r>
                              <a:rPr lang="ru-RU" sz="2200" i="1">
                                <a:latin typeface="Cambria Math" panose="02040503050406030204" pitchFamily="18" charset="0"/>
                              </a:rPr>
                              <m:t>𝑑𝑧</m:t>
                            </m:r>
                          </m:den>
                        </m:f>
                      </m:e>
                    </m:rad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​​</a:t>
                </a:r>
                <a:br>
                  <a:rPr lang="ru-RU" sz="2400" dirty="0">
                    <a:latin typeface="Aptos" panose="020B0004020202020204" pitchFamily="34" charset="0"/>
                  </a:rPr>
                </a:br>
                <a:r>
                  <a:rPr lang="ru-RU" sz="2200" b="1" dirty="0">
                    <a:latin typeface="Aptos" panose="020B0004020202020204" pitchFamily="34" charset="0"/>
                  </a:rPr>
                  <a:t>Инерционная частота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 задает нижнюю границу существования внутренних волн: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ru-RU" sz="2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2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func>
                      <m:funcPr>
                        <m:ctrlPr>
                          <a:rPr lang="ru-RU" sz="22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2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endParaRPr lang="ru-RU" sz="2200" dirty="0">
                  <a:latin typeface="Aptos" panose="020B0004020202020204" pitchFamily="34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В районе исследований (Голубая бухта, ~44,5° </a:t>
                </a:r>
                <a:r>
                  <a:rPr lang="ru-RU" sz="2200" dirty="0" err="1">
                    <a:latin typeface="Aptos" panose="020B0004020202020204" pitchFamily="34" charset="0"/>
                  </a:rPr>
                  <a:t>с.ш</a:t>
                </a:r>
                <a:r>
                  <a:rPr lang="ru-RU" sz="2200" dirty="0">
                    <a:latin typeface="Aptos" panose="020B0004020202020204" pitchFamily="34" charset="0"/>
                  </a:rPr>
                  <a:t>.) получены следующие значения: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=25.8</m:t>
                      </m:r>
                      <m:r>
                        <a:rPr lang="ru-RU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ч⁻¹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 ⇒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=2.3мин. </m:t>
                      </m:r>
                    </m:oMath>
                  </m:oMathPara>
                </a14:m>
                <a:endParaRPr lang="ru-RU" sz="24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17,1</m:t>
                        </m:r>
                      </m:den>
                    </m:f>
                    <m:r>
                      <a:rPr lang="ru-RU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ч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 0,0585 ч⁻¹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2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где 17.1ч - </a:t>
                </a:r>
                <a:r>
                  <a:rPr lang="ru-RU" sz="2200" dirty="0">
                    <a:latin typeface="Aptos" panose="020B0004020202020204" pitchFamily="34" charset="0"/>
                  </a:rPr>
                  <a:t>инерционный период, характерный для </a:t>
                </a:r>
                <a:r>
                  <a:rPr lang="ru-RU" sz="2200" dirty="0" err="1">
                    <a:latin typeface="Aptos" panose="020B0004020202020204" pitchFamily="34" charset="0"/>
                  </a:rPr>
                  <a:t>акватори</a:t>
                </a:r>
                <a:r>
                  <a:rPr lang="ru-RU" sz="2200" dirty="0">
                    <a:latin typeface="Aptos" panose="020B0004020202020204" pitchFamily="34" charset="0"/>
                  </a:rPr>
                  <a:t>.</a:t>
                </a:r>
              </a:p>
              <a:p>
                <a:pPr marL="0" indent="0" algn="ctr">
                  <a:buNone/>
                </a:pPr>
                <a:r>
                  <a:rPr lang="ru-RU" sz="2200" b="1" dirty="0">
                    <a:latin typeface="Aptos" panose="020B0004020202020204" pitchFamily="34" charset="0"/>
                  </a:rPr>
                  <a:t>Диапазон существования внутренних волн:</a:t>
                </a:r>
                <a:br>
                  <a:rPr lang="ru-RU" sz="2200" dirty="0">
                    <a:latin typeface="Aptos" panose="020B00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ru-RU" sz="2200"/>
                      <m:t>0,0585</m:t>
                    </m:r>
                    <m:r>
                      <m:rPr>
                        <m:nor/>
                      </m:rPr>
                      <a:rPr lang="ru-RU" sz="2200">
                        <a:latin typeface="Aptos" panose="020B0004020202020204" pitchFamily="34" charset="0"/>
                      </a:rPr>
                      <m:t> </m:t>
                    </m:r>
                    <m:sSup>
                      <m:sSupPr>
                        <m:ctrlPr>
                          <a:rPr lang="ru-RU" sz="2200">
                            <a:latin typeface="Aptos" panose="020B00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2200">
                            <a:latin typeface="Aptos" panose="020B0004020202020204" pitchFamily="34" charset="0"/>
                          </a:rPr>
                          <m:t>ч</m:t>
                        </m:r>
                      </m:e>
                      <m:sup>
                        <m:r>
                          <a:rPr lang="ru-RU" sz="2200"/>
                          <m:t>−1</m:t>
                        </m:r>
                      </m:sup>
                    </m:sSup>
                    <m:r>
                      <a:rPr lang="ru-RU" sz="2200"/>
                      <m:t>&lt;</m:t>
                    </m:r>
                    <m:r>
                      <a:rPr lang="ru-RU" sz="2200" i="1"/>
                      <m:t>𝑓</m:t>
                    </m:r>
                    <m:r>
                      <a:rPr lang="ru-RU" sz="2200"/>
                      <m:t>&lt;25,8</m:t>
                    </m:r>
                    <m:r>
                      <m:rPr>
                        <m:nor/>
                      </m:rPr>
                      <a:rPr lang="ru-RU" sz="2200">
                        <a:latin typeface="Aptos" panose="020B0004020202020204" pitchFamily="34" charset="0"/>
                      </a:rPr>
                      <m:t> </m:t>
                    </m:r>
                    <m:sSup>
                      <m:sSupPr>
                        <m:ctrlPr>
                          <a:rPr lang="ru-RU" sz="2200">
                            <a:latin typeface="Aptos" panose="020B00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2200">
                            <a:latin typeface="Aptos" panose="020B0004020202020204" pitchFamily="34" charset="0"/>
                          </a:rPr>
                          <m:t>ч</m:t>
                        </m:r>
                      </m:e>
                      <m:sup>
                        <m:r>
                          <a:rPr lang="ru-RU" sz="2200"/>
                          <m:t>−1</m:t>
                        </m:r>
                      </m:sup>
                    </m:sSup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.</a:t>
                </a:r>
                <a:endParaRPr lang="ru-RU" sz="2200" dirty="0">
                  <a:latin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40F2A8-8E74-F574-696A-A270D4D79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3108" y="984287"/>
                <a:ext cx="6790643" cy="5622458"/>
              </a:xfrm>
              <a:blipFill>
                <a:blip r:embed="rId2"/>
                <a:stretch>
                  <a:fillRect l="-1167" t="-1192" r="-15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17CC703-FD92-ACC0-56A1-7D6A9B9884EC}"/>
              </a:ext>
            </a:extLst>
          </p:cNvPr>
          <p:cNvSpPr txBox="1">
            <a:spLocks/>
          </p:cNvSpPr>
          <p:nvPr/>
        </p:nvSpPr>
        <p:spPr>
          <a:xfrm>
            <a:off x="204537" y="6237413"/>
            <a:ext cx="437147" cy="510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AF648-CD88-DC48-1227-477AD821FB09}"/>
              </a:ext>
            </a:extLst>
          </p:cNvPr>
          <p:cNvSpPr txBox="1"/>
          <p:nvPr/>
        </p:nvSpPr>
        <p:spPr>
          <a:xfrm>
            <a:off x="7147737" y="6237413"/>
            <a:ext cx="4724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Рис. 5 – </a:t>
            </a:r>
            <a:r>
              <a:rPr lang="ru-RU" dirty="0">
                <a:latin typeface="Aptos" panose="020B0004020202020204" pitchFamily="34" charset="0"/>
              </a:rPr>
              <a:t>Профиль частоты </a:t>
            </a:r>
            <a:r>
              <a:rPr lang="ru-RU" dirty="0" err="1">
                <a:latin typeface="Aptos" panose="020B0004020202020204" pitchFamily="34" charset="0"/>
              </a:rPr>
              <a:t>Вяйсяля</a:t>
            </a:r>
            <a:r>
              <a:rPr lang="ru-RU" dirty="0">
                <a:latin typeface="Aptos" panose="020B0004020202020204" pitchFamily="34" charset="0"/>
              </a:rPr>
              <a:t>-Брента.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AA8D4F-3F39-8469-DBD5-1A3DDE632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424" y="834190"/>
            <a:ext cx="3840571" cy="53774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26F38E50-2C1D-345E-DE29-73A17A96EBC3}"/>
              </a:ext>
            </a:extLst>
          </p:cNvPr>
          <p:cNvSpPr txBox="1">
            <a:spLocks/>
          </p:cNvSpPr>
          <p:nvPr/>
        </p:nvSpPr>
        <p:spPr>
          <a:xfrm>
            <a:off x="7487648" y="834189"/>
            <a:ext cx="4281244" cy="580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12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660B8-48D3-511B-A295-AFF5A18D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3679D-1560-09BF-ED32-2312D5633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08" y="41641"/>
            <a:ext cx="10737383" cy="88440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Построение спектров, </a:t>
            </a:r>
            <a:r>
              <a:rPr lang="en-US" sz="3600" b="1" dirty="0">
                <a:latin typeface="Aptos" panose="020B0004020202020204" pitchFamily="34" charset="0"/>
              </a:rPr>
              <a:t>PSD</a:t>
            </a:r>
            <a:r>
              <a:rPr lang="ru-RU" sz="3600" b="1" dirty="0">
                <a:latin typeface="Aptos" panose="020B0004020202020204" pitchFamily="34" charset="0"/>
              </a:rPr>
              <a:t> и модели Гарретта-Манка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550360-1C6E-1860-ED39-FC5663A50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876" y="692209"/>
                <a:ext cx="5127084" cy="60555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>
                    <a:latin typeface="Aptos" panose="020B0004020202020204" pitchFamily="34" charset="0"/>
                  </a:rPr>
                  <a:t>Спектр временного сигнала</a:t>
                </a:r>
                <a:r>
                  <a:rPr lang="ru-RU" sz="2200" dirty="0">
                    <a:latin typeface="Aptos" panose="020B0004020202020204" pitchFamily="34" charset="0"/>
                  </a:rPr>
                  <a:t> определялся на основе преобразования Фурье: </a:t>
                </a:r>
                <a:endParaRPr lang="ru-RU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/>
                      <m:t>𝐹</m:t>
                    </m:r>
                    <m:d>
                      <m:dPr>
                        <m:ctrlPr>
                          <a:rPr lang="ru-RU" sz="2400" i="1"/>
                        </m:ctrlPr>
                      </m:dPr>
                      <m:e>
                        <m:r>
                          <a:rPr lang="ru-RU" sz="2400" i="1"/>
                          <m:t>𝜈</m:t>
                        </m:r>
                      </m:e>
                    </m:d>
                    <m:r>
                      <a:rPr lang="ru-RU" sz="2400" i="1"/>
                      <m:t>=</m:t>
                    </m:r>
                    <m:nary>
                      <m:naryPr>
                        <m:limLoc m:val="subSup"/>
                        <m:ctrlPr>
                          <a:rPr lang="ru-RU" sz="2400" i="1"/>
                        </m:ctrlPr>
                      </m:naryPr>
                      <m:sub>
                        <m:r>
                          <a:rPr lang="ru-RU" sz="2400" i="1"/>
                          <m:t>−∞</m:t>
                        </m:r>
                      </m:sub>
                      <m:sup>
                        <m:r>
                          <a:rPr lang="ru-RU" sz="2400" i="1"/>
                          <m:t>∞</m:t>
                        </m:r>
                      </m:sup>
                      <m:e>
                        <m:r>
                          <a:rPr lang="ru-RU" sz="2400" i="1"/>
                          <m:t>𝑓</m:t>
                        </m:r>
                        <m:d>
                          <m:dPr>
                            <m:ctrlPr>
                              <a:rPr lang="ru-RU" sz="2400" i="1"/>
                            </m:ctrlPr>
                          </m:dPr>
                          <m:e>
                            <m:r>
                              <a:rPr lang="ru-RU" sz="2400" i="1"/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ru-RU" sz="2400" i="1"/>
                            </m:ctrlPr>
                          </m:sSupPr>
                          <m:e>
                            <m:r>
                              <a:rPr lang="ru-RU" sz="2400" i="1"/>
                              <m:t>𝑒</m:t>
                            </m:r>
                          </m:e>
                          <m:sup>
                            <m:r>
                              <a:rPr lang="ru-RU" sz="2400" i="1"/>
                              <m:t>−</m:t>
                            </m:r>
                            <m:r>
                              <a:rPr lang="ru-RU" sz="2400" i="1"/>
                              <m:t>𝑖</m:t>
                            </m:r>
                            <m:r>
                              <a:rPr lang="ru-RU" sz="2400" i="1"/>
                              <m:t>2</m:t>
                            </m:r>
                            <m:r>
                              <a:rPr lang="ru-RU" sz="2400" i="1"/>
                              <m:t>𝜋𝜈</m:t>
                            </m:r>
                            <m:r>
                              <a:rPr lang="ru-RU" sz="2400" i="1"/>
                              <m:t>𝑡</m:t>
                            </m:r>
                          </m:sup>
                        </m:sSup>
                        <m:r>
                          <a:rPr lang="ru-RU" sz="2400" i="1"/>
                          <m:t>𝑑𝑡</m:t>
                        </m:r>
                      </m:e>
                    </m:nary>
                  </m:oMath>
                </a14:m>
                <a:r>
                  <a:rPr lang="ru-RU" sz="2400" dirty="0">
                    <a:latin typeface="Aptos" panose="020B00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sz="2200" b="1" dirty="0">
                    <a:latin typeface="Aptos" panose="020B0004020202020204" pitchFamily="34" charset="0"/>
                  </a:rPr>
                  <a:t>Спектральная плотность мощности </a:t>
                </a:r>
                <a:r>
                  <a:rPr lang="ru-RU" sz="2200" dirty="0">
                    <a:latin typeface="Aptos" panose="020B0004020202020204" pitchFamily="34" charset="0"/>
                  </a:rPr>
                  <a:t>(PSD) оценивалась на основе дискретного преобразования Фурье: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/>
                        </m:ctrlPr>
                      </m:accPr>
                      <m:e>
                        <m:r>
                          <a:rPr lang="ru-RU" sz="2400" i="1"/>
                          <m:t>𝑊</m:t>
                        </m:r>
                      </m:e>
                    </m:acc>
                    <m:d>
                      <m:dPr>
                        <m:ctrlPr>
                          <a:rPr lang="ru-RU" sz="2400" i="1"/>
                        </m:ctrlPr>
                      </m:dPr>
                      <m:e>
                        <m:r>
                          <a:rPr lang="ru-RU" sz="2400" i="1"/>
                          <m:t>𝜔</m:t>
                        </m:r>
                      </m:e>
                    </m:d>
                    <m:r>
                      <a:rPr lang="ru-RU" sz="2400" i="1"/>
                      <m:t>=</m:t>
                    </m:r>
                    <m:f>
                      <m:fPr>
                        <m:ctrlPr>
                          <a:rPr lang="ru-RU" sz="2400" i="1"/>
                        </m:ctrlPr>
                      </m:fPr>
                      <m:num>
                        <m:r>
                          <a:rPr lang="ru-RU" sz="2400" i="1"/>
                          <m:t>1</m:t>
                        </m:r>
                      </m:num>
                      <m:den>
                        <m:r>
                          <a:rPr lang="ru-RU" sz="2400" i="1"/>
                          <m:t>𝑁</m:t>
                        </m:r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ru-RU" sz="2400" i="1"/>
                              <m:t>𝑓</m:t>
                            </m:r>
                          </m:e>
                          <m:sub>
                            <m:r>
                              <a:rPr lang="ru-RU" sz="2400" i="1"/>
                              <m:t>𝑎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ru-RU" sz="2400" i="1"/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400" i="1"/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ru-RU" sz="2400" i="1"/>
                                </m:ctrlPr>
                              </m:naryPr>
                              <m:sub>
                                <m:r>
                                  <a:rPr lang="ru-RU" sz="2400" i="1"/>
                                  <m:t>𝑘</m:t>
                                </m:r>
                                <m:r>
                                  <a:rPr lang="ru-RU" sz="2400" i="1"/>
                                  <m:t>=0</m:t>
                                </m:r>
                              </m:sub>
                              <m:sup>
                                <m:r>
                                  <a:rPr lang="ru-RU" sz="2400" i="1"/>
                                  <m:t>𝑁</m:t>
                                </m:r>
                                <m:r>
                                  <a:rPr lang="ru-RU" sz="2400" i="1"/>
                                  <m:t>=1</m:t>
                                </m:r>
                              </m:sup>
                              <m:e>
                                <m:r>
                                  <a:rPr lang="ru-RU" sz="2400" i="1"/>
                                  <m:t>𝑥</m:t>
                                </m:r>
                                <m:d>
                                  <m:dPr>
                                    <m:ctrlPr>
                                      <a:rPr lang="ru-RU" sz="2400" i="1"/>
                                    </m:ctrlPr>
                                  </m:dPr>
                                  <m:e>
                                    <m:r>
                                      <a:rPr lang="ru-RU" sz="2400" i="1"/>
                                      <m:t>𝑘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ru-RU" sz="2400" i="1"/>
                                    </m:ctrlPr>
                                  </m:sSupPr>
                                  <m:e>
                                    <m:r>
                                      <a:rPr lang="ru-RU" sz="2400" i="1"/>
                                      <m:t>𝑒</m:t>
                                    </m:r>
                                  </m:e>
                                  <m:sup>
                                    <m:r>
                                      <a:rPr lang="ru-RU" sz="2400" i="1"/>
                                      <m:t>−</m:t>
                                    </m:r>
                                    <m:r>
                                      <a:rPr lang="ru-RU" sz="2400" i="1"/>
                                      <m:t>𝑗</m:t>
                                    </m:r>
                                    <m:r>
                                      <a:rPr lang="ru-RU" sz="2400" i="1"/>
                                      <m:t>𝜔</m:t>
                                    </m:r>
                                    <m:r>
                                      <a:rPr lang="ru-RU" sz="2400" i="1"/>
                                      <m:t>𝑘𝑇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ru-RU" sz="2400" i="1"/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Aptos" panose="020B00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Модель Гарретта–Манка отражает насколько шельфовый спектр отличается от океанического эталона: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/>
                      <m:t>𝑆</m:t>
                    </m:r>
                    <m:d>
                      <m:dPr>
                        <m:ctrlPr>
                          <a:rPr lang="ru-RU" sz="2400" i="1"/>
                        </m:ctrlPr>
                      </m:dPr>
                      <m:e>
                        <m:r>
                          <a:rPr lang="ru-RU" sz="2400" i="1"/>
                          <m:t>𝑓</m:t>
                        </m:r>
                        <m:r>
                          <a:rPr lang="ru-RU" sz="2400" i="1"/>
                          <m:t>,</m:t>
                        </m:r>
                        <m:r>
                          <a:rPr lang="ru-RU" sz="2400" i="1"/>
                          <m:t>𝑧</m:t>
                        </m:r>
                      </m:e>
                    </m:d>
                    <m:r>
                      <a:rPr lang="ru-RU" sz="2400" i="1"/>
                      <m:t>=</m:t>
                    </m:r>
                    <m:f>
                      <m:fPr>
                        <m:ctrlPr>
                          <a:rPr lang="ru-RU" sz="2400" i="1"/>
                        </m:ctrlPr>
                      </m:fPr>
                      <m:num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ru-RU" sz="2400" i="1"/>
                              <m:t>𝐶</m:t>
                            </m:r>
                          </m:e>
                          <m:sub>
                            <m:r>
                              <a:rPr lang="ru-RU" sz="2400" i="1"/>
                              <m:t>𝑀</m:t>
                            </m:r>
                          </m:sub>
                        </m:sSub>
                        <m:sSub>
                          <m:sSubPr>
                            <m:ctrlPr>
                              <a:rPr lang="ru-RU" sz="2400" i="1"/>
                            </m:ctrlPr>
                          </m:sSubPr>
                          <m:e>
                            <m:r>
                              <a:rPr lang="ru-RU" sz="2400" i="1"/>
                              <m:t>𝑓</m:t>
                            </m:r>
                          </m:e>
                          <m:sub>
                            <m:r>
                              <a:rPr lang="ru-RU" sz="2400" i="1"/>
                              <m:t>𝑖𝑛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ru-RU" sz="2400" i="1"/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ru-RU" sz="2400" i="1"/>
                                </m:ctrlPr>
                              </m:sSupPr>
                              <m:e>
                                <m:r>
                                  <a:rPr lang="ru-RU" sz="2400" i="1"/>
                                  <m:t>𝑓</m:t>
                                </m:r>
                              </m:e>
                              <m:sup>
                                <m:r>
                                  <a:rPr lang="ru-RU" sz="2400" i="1"/>
                                  <m:t>2</m:t>
                                </m:r>
                              </m:sup>
                            </m:sSup>
                            <m:r>
                              <a:rPr lang="ru-RU" sz="2400" i="1"/>
                              <m:t>−</m:t>
                            </m:r>
                            <m:sSubSup>
                              <m:sSubSupPr>
                                <m:ctrlPr>
                                  <a:rPr lang="ru-RU" sz="2400" i="1"/>
                                </m:ctrlPr>
                              </m:sSubSupPr>
                              <m:e>
                                <m:r>
                                  <a:rPr lang="ru-RU" sz="2400" i="1"/>
                                  <m:t>𝑓</m:t>
                                </m:r>
                              </m:e>
                              <m:sub>
                                <m:r>
                                  <a:rPr lang="ru-RU" sz="2400" i="1"/>
                                  <m:t>𝑖𝑛</m:t>
                                </m:r>
                              </m:sub>
                              <m:sup>
                                <m:r>
                                  <a:rPr lang="ru-RU" sz="2400" i="1"/>
                                  <m:t>2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r>
                          <a:rPr lang="ru-RU" sz="2400" i="1"/>
                          <m:t>𝑁</m:t>
                        </m:r>
                        <m:d>
                          <m:dPr>
                            <m:ctrlPr>
                              <a:rPr lang="ru-RU" sz="2400" i="1"/>
                            </m:ctrlPr>
                          </m:dPr>
                          <m:e>
                            <m:r>
                              <a:rPr lang="ru-RU" sz="2400" i="1"/>
                              <m:t>𝑧</m:t>
                            </m:r>
                          </m:e>
                        </m:d>
                        <m:sSup>
                          <m:sSupPr>
                            <m:ctrlPr>
                              <a:rPr lang="ru-RU" sz="2400" i="1"/>
                            </m:ctrlPr>
                          </m:sSupPr>
                          <m:e>
                            <m:r>
                              <a:rPr lang="ru-RU" sz="2400" i="1"/>
                              <m:t>𝑓</m:t>
                            </m:r>
                          </m:e>
                          <m:sup>
                            <m:r>
                              <a:rPr lang="ru-RU" sz="2400" i="1"/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ru-RU" sz="2400" dirty="0">
                    <a:latin typeface="Aptos" panose="020B0004020202020204" pitchFamily="34" charset="0"/>
                  </a:rPr>
                  <a:t> , 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𝐶</m:t>
                        </m:r>
                      </m:e>
                      <m:sub>
                        <m:r>
                          <a:rPr lang="ru-RU" sz="2200" i="1"/>
                          <m:t>𝑀</m:t>
                        </m:r>
                      </m:sub>
                    </m:sSub>
                    <m:r>
                      <a:rPr lang="ru-RU" sz="2200" i="1"/>
                      <m:t>=204</m:t>
                    </m:r>
                    <m:r>
                      <m:rPr>
                        <m:nor/>
                      </m:rPr>
                      <a:rPr lang="ru-RU" sz="2200">
                        <a:latin typeface="Aptos" panose="020B0004020202020204" pitchFamily="34" charset="0"/>
                      </a:rPr>
                      <m:t> </m:t>
                    </m:r>
                    <m:sSup>
                      <m:sSupPr>
                        <m:ctrlPr>
                          <a:rPr lang="ru-RU" sz="2200">
                            <a:latin typeface="Aptos" panose="020B00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2200">
                            <a:latin typeface="Aptos" panose="020B0004020202020204" pitchFamily="34" charset="0"/>
                          </a:rPr>
                          <m:t>м</m:t>
                        </m:r>
                      </m:e>
                      <m:sup>
                        <m:r>
                          <a:rPr lang="ru-RU" sz="2200" i="1"/>
                          <m:t>2</m:t>
                        </m:r>
                      </m:sup>
                    </m:sSup>
                    <m:r>
                      <a:rPr lang="ru-RU" sz="2200" i="1"/>
                      <m:t>⋅</m:t>
                    </m:r>
                    <m:sSup>
                      <m:sSupPr>
                        <m:ctrlPr>
                          <a:rPr lang="ru-RU" sz="2200">
                            <a:latin typeface="Aptos" panose="020B00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ru-RU" sz="2200">
                            <a:latin typeface="Aptos" panose="020B0004020202020204" pitchFamily="34" charset="0"/>
                          </a:rPr>
                          <m:t>ч</m:t>
                        </m:r>
                      </m:e>
                      <m:sup>
                        <m:r>
                          <a:rPr lang="ru-RU" sz="2200" i="1"/>
                          <m:t>−1</m:t>
                        </m:r>
                      </m:sup>
                    </m:sSup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- эмпирическая константа.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550360-1C6E-1860-ED39-FC5663A50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876" y="692209"/>
                <a:ext cx="5127084" cy="6055586"/>
              </a:xfrm>
              <a:blipFill>
                <a:blip r:embed="rId2"/>
                <a:stretch>
                  <a:fillRect l="-1546" t="-1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60B1851-878D-27C8-740B-D98E6E3B2AB1}"/>
              </a:ext>
            </a:extLst>
          </p:cNvPr>
          <p:cNvSpPr txBox="1">
            <a:spLocks/>
          </p:cNvSpPr>
          <p:nvPr/>
        </p:nvSpPr>
        <p:spPr>
          <a:xfrm>
            <a:off x="75926" y="6165791"/>
            <a:ext cx="651382" cy="692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797C1-F95C-C228-72A7-A7AECC14C830}"/>
              </a:ext>
            </a:extLst>
          </p:cNvPr>
          <p:cNvSpPr txBox="1"/>
          <p:nvPr/>
        </p:nvSpPr>
        <p:spPr>
          <a:xfrm>
            <a:off x="5501156" y="6149131"/>
            <a:ext cx="66908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Рис. 6– </a:t>
            </a:r>
            <a:r>
              <a:rPr lang="ru-RU" dirty="0">
                <a:latin typeface="Aptos" panose="020B0004020202020204" pitchFamily="34" charset="0"/>
              </a:rPr>
              <a:t>Спектральная плотность мощности (PSD) для изотермы 13°C  и модель Гарретта–Манка.</a:t>
            </a:r>
          </a:p>
          <a:p>
            <a:pPr algn="ctr"/>
            <a:endParaRPr lang="ru-RU" sz="2000" dirty="0">
              <a:latin typeface="Aptos" panose="020B0004020202020204" pitchFamily="34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0AE1BDD-8A55-0571-11E1-8F3E3B79D56F}"/>
              </a:ext>
            </a:extLst>
          </p:cNvPr>
          <p:cNvSpPr txBox="1">
            <a:spLocks/>
          </p:cNvSpPr>
          <p:nvPr/>
        </p:nvSpPr>
        <p:spPr>
          <a:xfrm>
            <a:off x="489994" y="633469"/>
            <a:ext cx="7729668" cy="1200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dirty="0">
              <a:latin typeface="Aptos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5CE308-B04F-42A8-753B-2F543534D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87"/>
          <a:stretch>
            <a:fillRect/>
          </a:stretch>
        </p:blipFill>
        <p:spPr>
          <a:xfrm>
            <a:off x="5756960" y="926047"/>
            <a:ext cx="6090621" cy="52165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525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6135A-68D9-6069-EB1F-C338D309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76D28-D5AE-CC21-8192-9EFAC57A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75" y="-12423"/>
            <a:ext cx="7492050" cy="884406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Aptos" panose="020B0004020202020204" pitchFamily="34" charset="0"/>
              </a:rPr>
              <a:t>Режим течений по данным </a:t>
            </a:r>
            <a:r>
              <a:rPr lang="en-US" sz="3600" b="1" dirty="0">
                <a:latin typeface="Aptos" panose="020B0004020202020204" pitchFamily="34" charset="0"/>
              </a:rPr>
              <a:t>ADCP</a:t>
            </a:r>
            <a:endParaRPr lang="ru-RU" sz="3600" b="1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4B0B484-D003-03C9-914C-F723D78570E3}"/>
              </a:ext>
            </a:extLst>
          </p:cNvPr>
          <p:cNvSpPr txBox="1">
            <a:spLocks/>
          </p:cNvSpPr>
          <p:nvPr/>
        </p:nvSpPr>
        <p:spPr>
          <a:xfrm>
            <a:off x="0" y="6211669"/>
            <a:ext cx="638355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F74DA-8050-7D5B-2533-452C511ECE08}"/>
              </a:ext>
            </a:extLst>
          </p:cNvPr>
          <p:cNvSpPr txBox="1"/>
          <p:nvPr/>
        </p:nvSpPr>
        <p:spPr>
          <a:xfrm>
            <a:off x="320808" y="5574765"/>
            <a:ext cx="5775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Рис. </a:t>
            </a:r>
            <a:r>
              <a:rPr lang="ru-RU" dirty="0">
                <a:latin typeface="Aptos" panose="020B0004020202020204" pitchFamily="34" charset="0"/>
                <a:ea typeface="Calibri" panose="020F0502020204030204" pitchFamily="34" charset="0"/>
              </a:rPr>
              <a:t>7</a:t>
            </a:r>
            <a:r>
              <a:rPr lang="ru-RU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 – </a:t>
            </a:r>
            <a:r>
              <a:rPr lang="ru-RU" dirty="0">
                <a:latin typeface="Aptos" panose="020B0004020202020204" pitchFamily="34" charset="0"/>
              </a:rPr>
              <a:t>Временная изменчивость скорости течения |V| (а) и его направления (б) по данным ADCP (усреднение 30 мин).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CD451B2-4C46-3661-72C2-1A8F1C22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08" y="1114425"/>
            <a:ext cx="5775192" cy="44603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DDD60C-3CEC-6619-B396-0E50C64F2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4425"/>
            <a:ext cx="5730563" cy="4460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974CCB-2852-9021-22CD-AF58420DCA50}"/>
              </a:ext>
            </a:extLst>
          </p:cNvPr>
          <p:cNvSpPr txBox="1"/>
          <p:nvPr/>
        </p:nvSpPr>
        <p:spPr>
          <a:xfrm>
            <a:off x="6051371" y="5574765"/>
            <a:ext cx="5775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Рис. 8 – </a:t>
            </a:r>
            <a:r>
              <a:rPr lang="ru-RU" dirty="0">
                <a:latin typeface="Aptos" panose="020B0004020202020204" pitchFamily="34" charset="0"/>
              </a:rPr>
              <a:t>Временная изменчивость </a:t>
            </a:r>
            <a:r>
              <a:rPr lang="ru-RU" dirty="0"/>
              <a:t>для зональной компоненты U (а) и меридиональной V (б). Усреднение 30 мин, красный – положительные значения (восток/север), синий – отрицательные (запад/юг).</a:t>
            </a:r>
          </a:p>
        </p:txBody>
      </p:sp>
      <p:sp>
        <p:nvSpPr>
          <p:cNvPr id="14" name="Надпись 8">
            <a:extLst>
              <a:ext uri="{FF2B5EF4-FFF2-40B4-BE49-F238E27FC236}">
                <a16:creationId xmlns:a16="http://schemas.microsoft.com/office/drawing/2014/main" id="{42D54DD1-A818-A212-77FE-06524E106B4D}"/>
              </a:ext>
            </a:extLst>
          </p:cNvPr>
          <p:cNvSpPr txBox="1"/>
          <p:nvPr/>
        </p:nvSpPr>
        <p:spPr>
          <a:xfrm>
            <a:off x="309562" y="3262312"/>
            <a:ext cx="29527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</a:p>
        </p:txBody>
      </p:sp>
      <p:sp>
        <p:nvSpPr>
          <p:cNvPr id="15" name="Надпись 8">
            <a:extLst>
              <a:ext uri="{FF2B5EF4-FFF2-40B4-BE49-F238E27FC236}">
                <a16:creationId xmlns:a16="http://schemas.microsoft.com/office/drawing/2014/main" id="{74E8E9E3-58C2-A285-459F-381FD6895309}"/>
              </a:ext>
            </a:extLst>
          </p:cNvPr>
          <p:cNvSpPr txBox="1"/>
          <p:nvPr/>
        </p:nvSpPr>
        <p:spPr>
          <a:xfrm>
            <a:off x="6087005" y="3262312"/>
            <a:ext cx="29527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</a:p>
        </p:txBody>
      </p:sp>
      <p:sp>
        <p:nvSpPr>
          <p:cNvPr id="16" name="Надпись 8">
            <a:extLst>
              <a:ext uri="{FF2B5EF4-FFF2-40B4-BE49-F238E27FC236}">
                <a16:creationId xmlns:a16="http://schemas.microsoft.com/office/drawing/2014/main" id="{F49CF65E-2A5D-AF0B-E5A2-C8A77F264FB3}"/>
              </a:ext>
            </a:extLst>
          </p:cNvPr>
          <p:cNvSpPr txBox="1"/>
          <p:nvPr/>
        </p:nvSpPr>
        <p:spPr>
          <a:xfrm>
            <a:off x="319177" y="5297766"/>
            <a:ext cx="29527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</a:p>
        </p:txBody>
      </p:sp>
      <p:sp>
        <p:nvSpPr>
          <p:cNvPr id="17" name="Надпись 8">
            <a:extLst>
              <a:ext uri="{FF2B5EF4-FFF2-40B4-BE49-F238E27FC236}">
                <a16:creationId xmlns:a16="http://schemas.microsoft.com/office/drawing/2014/main" id="{5A0A5F33-5D54-9DD3-BFCF-E803AA34B4C7}"/>
              </a:ext>
            </a:extLst>
          </p:cNvPr>
          <p:cNvSpPr txBox="1"/>
          <p:nvPr/>
        </p:nvSpPr>
        <p:spPr>
          <a:xfrm>
            <a:off x="6078010" y="5298467"/>
            <a:ext cx="295275" cy="3333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</a:t>
            </a:r>
          </a:p>
        </p:txBody>
      </p:sp>
    </p:spTree>
    <p:extLst>
      <p:ext uri="{BB962C8B-B14F-4D97-AF65-F5344CB8AC3E}">
        <p14:creationId xmlns:p14="http://schemas.microsoft.com/office/powerpoint/2010/main" val="280007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723D1-AF04-3EAE-FF24-7627B49A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F52FA-F493-595D-2B9E-E5B35609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75" y="-12423"/>
            <a:ext cx="7492050" cy="884406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Aptos" panose="020B0004020202020204" pitchFamily="34" charset="0"/>
              </a:rPr>
              <a:t>Режим течений по данным </a:t>
            </a:r>
            <a:r>
              <a:rPr lang="en-US" sz="3600" b="1" dirty="0">
                <a:latin typeface="Aptos" panose="020B0004020202020204" pitchFamily="34" charset="0"/>
              </a:rPr>
              <a:t>ADCP</a:t>
            </a:r>
            <a:endParaRPr lang="ru-RU" sz="3600" b="1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CABDBE1-9108-67BF-4D6E-1A0DE8CDCD88}"/>
              </a:ext>
            </a:extLst>
          </p:cNvPr>
          <p:cNvSpPr txBox="1">
            <a:spLocks/>
          </p:cNvSpPr>
          <p:nvPr/>
        </p:nvSpPr>
        <p:spPr>
          <a:xfrm>
            <a:off x="1" y="6237412"/>
            <a:ext cx="641684" cy="620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73219-6A27-113E-CE68-DA614D29EE90}"/>
              </a:ext>
            </a:extLst>
          </p:cNvPr>
          <p:cNvSpPr txBox="1"/>
          <p:nvPr/>
        </p:nvSpPr>
        <p:spPr>
          <a:xfrm>
            <a:off x="8215717" y="1904826"/>
            <a:ext cx="37577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Рис. 9 – </a:t>
            </a:r>
            <a:r>
              <a:rPr lang="ru-RU" sz="2000" dirty="0">
                <a:latin typeface="Aptos" panose="020B0004020202020204" pitchFamily="34" charset="0"/>
              </a:rPr>
              <a:t>Гистограммы скорости (верх) и направления (низ) течений для горизонтов 1,8; 10,8; 19,8 м и вертикального среднего.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E4EA23-58E7-C2F2-590D-B6B47713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15" y="871983"/>
            <a:ext cx="7086732" cy="35430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199224-33A8-DEE9-AF7A-79132FBA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215" y="4414997"/>
            <a:ext cx="7086732" cy="2104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BF877A-5FBA-4355-C5DC-ABF18695A6C4}"/>
              </a:ext>
            </a:extLst>
          </p:cNvPr>
          <p:cNvSpPr txBox="1"/>
          <p:nvPr/>
        </p:nvSpPr>
        <p:spPr>
          <a:xfrm>
            <a:off x="8318744" y="4671528"/>
            <a:ext cx="365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0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Рис. 10  – Роза направлений течений для тех же горизонтов. Ноль – север, углы по часовой стрелке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900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2FA34-AC28-3790-1C5F-D748F78EE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30436-B280-1F14-579A-A5EF9FB0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5" y="0"/>
            <a:ext cx="11020926" cy="88440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Короткопериодные волны: статистика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2ACDE4-1868-FA08-968B-A5E145F20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36" y="701077"/>
            <a:ext cx="11020927" cy="14977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>
                <a:latin typeface="Aptos" panose="020B0004020202020204" pitchFamily="34" charset="0"/>
              </a:rPr>
              <a:t>Для статистического анализа выбрана изотерма 15,5 °C. Она расположена в середине термоклина, где смещения наиболее чувствительны к внутренним волнам, и обладает самым длинным непрерывным участком – 258,4 часа. Из временного ряда выделено 585 волн. Критерии отбора: высота H ≥ 0,5 м (исключение шума датчиков) и период T ≥ 3 мин.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38DFB62-7A22-46EB-936F-7F570EE9531C}"/>
              </a:ext>
            </a:extLst>
          </p:cNvPr>
          <p:cNvSpPr txBox="1">
            <a:spLocks/>
          </p:cNvSpPr>
          <p:nvPr/>
        </p:nvSpPr>
        <p:spPr>
          <a:xfrm>
            <a:off x="1" y="6237412"/>
            <a:ext cx="641684" cy="620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F81DCB-694D-7AAC-F093-4D23FA94552E}"/>
              </a:ext>
            </a:extLst>
          </p:cNvPr>
          <p:cNvSpPr txBox="1"/>
          <p:nvPr/>
        </p:nvSpPr>
        <p:spPr>
          <a:xfrm>
            <a:off x="5222234" y="2174226"/>
            <a:ext cx="71822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ptos" panose="020B0004020202020204" pitchFamily="34" charset="0"/>
              </a:rPr>
              <a:t>Таблица 1 – Статистика волн на изотерме 15,5 °C</a:t>
            </a:r>
            <a:r>
              <a:rPr lang="ru-RU" dirty="0"/>
              <a:t>.</a:t>
            </a:r>
          </a:p>
          <a:p>
            <a:endParaRPr lang="ru-RU" sz="20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15830F79-C3D4-5590-3426-340419069F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71204"/>
                  </p:ext>
                </p:extLst>
              </p:nvPr>
            </p:nvGraphicFramePr>
            <p:xfrm>
              <a:off x="4485736" y="2528169"/>
              <a:ext cx="7706264" cy="432983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18183">
                      <a:extLst>
                        <a:ext uri="{9D8B030D-6E8A-4147-A177-3AD203B41FA5}">
                          <a16:colId xmlns:a16="http://schemas.microsoft.com/office/drawing/2014/main" val="3337912037"/>
                        </a:ext>
                      </a:extLst>
                    </a:gridCol>
                    <a:gridCol w="2484229">
                      <a:extLst>
                        <a:ext uri="{9D8B030D-6E8A-4147-A177-3AD203B41FA5}">
                          <a16:colId xmlns:a16="http://schemas.microsoft.com/office/drawing/2014/main" val="2125161138"/>
                        </a:ext>
                      </a:extLst>
                    </a:gridCol>
                    <a:gridCol w="2903852">
                      <a:extLst>
                        <a:ext uri="{9D8B030D-6E8A-4147-A177-3AD203B41FA5}">
                          <a16:colId xmlns:a16="http://schemas.microsoft.com/office/drawing/2014/main" val="1790077968"/>
                        </a:ext>
                      </a:extLst>
                    </a:gridCol>
                  </a:tblGrid>
                  <a:tr h="37677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Параметр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Значения для высот Н, м 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Значения для периодов Т, мин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357646"/>
                      </a:ext>
                    </a:extLst>
                  </a:tr>
                  <a:tr h="333461">
                    <a:tc>
                      <a:txBody>
                        <a:bodyPr/>
                        <a:lstStyle/>
                        <a:p>
                          <a:pPr indent="13970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Диапазон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0,50 – 2,94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3,00 – 15,50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748639"/>
                      </a:ext>
                    </a:extLst>
                  </a:tr>
                  <a:tr h="478816">
                    <a:tc>
                      <a:txBody>
                        <a:bodyPr/>
                        <a:lstStyle/>
                        <a:p>
                          <a:pPr indent="13970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Выборочное среднее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𝐻</m:t>
                                  </m:r>
                                </m:e>
                              </m:acc>
                              <m:r>
                                <a:rPr lang="ru-RU" sz="2000" kern="100">
                                  <a:effectLst/>
                                </a:rPr>
                                <m:t>, </m:t>
                              </m:r>
                              <m:acc>
                                <m:accPr>
                                  <m:chr m:val="̅"/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𝑇</m:t>
                                  </m:r>
                                </m:e>
                              </m:acc>
                            </m:oMath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0,7475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5,1707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7816939"/>
                      </a:ext>
                    </a:extLst>
                  </a:tr>
                  <a:tr h="290710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Дисперсия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0,055474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3,1909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1603898"/>
                      </a:ext>
                    </a:extLst>
                  </a:tr>
                  <a:tr h="323486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СКО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𝐻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kern="100">
                              <a:effectLst/>
                              <a:latin typeface="Aptos" panose="020B0004020202020204" pitchFamily="34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0,2355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1,7863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54816"/>
                      </a:ext>
                    </a:extLst>
                  </a:tr>
                  <a:tr h="718225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Начальные моменты: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0,7475; 0,6143; 0,5791; 0,6586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5,1707; 29,9275; 195,2069; 1434,1942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7073726"/>
                      </a:ext>
                    </a:extLst>
                  </a:tr>
                  <a:tr h="495204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Центральные моменты: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0,0555; 0,0369; 0,0498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3,1909; 7,4612; 53,1507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298304"/>
                      </a:ext>
                    </a:extLst>
                  </a:tr>
                  <a:tr h="311373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Асимметрия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𝐻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2,828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1,309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9139652"/>
                      </a:ext>
                    </a:extLst>
                  </a:tr>
                  <a:tr h="313511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Эксцесс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𝐻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/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kern="1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13,192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2,220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43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Таблица 6">
                <a:extLst>
                  <a:ext uri="{FF2B5EF4-FFF2-40B4-BE49-F238E27FC236}">
                    <a16:creationId xmlns:a16="http://schemas.microsoft.com/office/drawing/2014/main" id="{15830F79-C3D4-5590-3426-340419069F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71204"/>
                  </p:ext>
                </p:extLst>
              </p:nvPr>
            </p:nvGraphicFramePr>
            <p:xfrm>
              <a:off x="4485736" y="2528169"/>
              <a:ext cx="7706264" cy="4329831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18183">
                      <a:extLst>
                        <a:ext uri="{9D8B030D-6E8A-4147-A177-3AD203B41FA5}">
                          <a16:colId xmlns:a16="http://schemas.microsoft.com/office/drawing/2014/main" val="3337912037"/>
                        </a:ext>
                      </a:extLst>
                    </a:gridCol>
                    <a:gridCol w="2484229">
                      <a:extLst>
                        <a:ext uri="{9D8B030D-6E8A-4147-A177-3AD203B41FA5}">
                          <a16:colId xmlns:a16="http://schemas.microsoft.com/office/drawing/2014/main" val="2125161138"/>
                        </a:ext>
                      </a:extLst>
                    </a:gridCol>
                    <a:gridCol w="2903852">
                      <a:extLst>
                        <a:ext uri="{9D8B030D-6E8A-4147-A177-3AD203B41FA5}">
                          <a16:colId xmlns:a16="http://schemas.microsoft.com/office/drawing/2014/main" val="1790077968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Параметр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Значения для высот Н, м 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Значения для периодов Т, мин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357646"/>
                      </a:ext>
                    </a:extLst>
                  </a:tr>
                  <a:tr h="333461">
                    <a:tc>
                      <a:txBody>
                        <a:bodyPr/>
                        <a:lstStyle/>
                        <a:p>
                          <a:pPr indent="13970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Диапазон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0,50 – 2,94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3,00 – 15,50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748639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" t="-167000" r="-232808" b="-48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0,7475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5,1707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781693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indent="13970" algn="just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Дисперсия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0,055474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3,1909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1603898"/>
                      </a:ext>
                    </a:extLst>
                  </a:tr>
                  <a:tr h="32348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" t="-598113" r="-232808" b="-7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0,2355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1,7863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225481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" t="-246667" r="-232808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0,7475; 0,6143; 0,5791; 0,6586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5,1707; 29,9275; 195,2069; 1434,1942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7073726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" t="-520000" r="-232808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0,0555; 0,0369; 0,0498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3,1909; 7,4612; 53,1507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298304"/>
                      </a:ext>
                    </a:extLst>
                  </a:tr>
                  <a:tr h="31137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" t="-1192308" r="-232808" b="-14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>
                              <a:effectLst/>
                              <a:latin typeface="Aptos" panose="020B0004020202020204" pitchFamily="34" charset="0"/>
                            </a:rPr>
                            <a:t>2,828</a:t>
                          </a:r>
                          <a:endParaRPr lang="ru-RU" sz="2000" kern="10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1,309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9139652"/>
                      </a:ext>
                    </a:extLst>
                  </a:tr>
                  <a:tr h="31351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" t="-1317647" r="-232808" b="-49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13,192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3970"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2,220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7430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D76838-8B69-FF96-DB67-37F45A9AC613}"/>
                  </a:ext>
                </a:extLst>
              </p:cNvPr>
              <p:cNvSpPr txBox="1"/>
              <p:nvPr/>
            </p:nvSpPr>
            <p:spPr>
              <a:xfrm>
                <a:off x="585536" y="2374280"/>
                <a:ext cx="4085591" cy="447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200" u="sng" dirty="0">
                    <a:effectLst/>
                    <a:latin typeface="Aptos" panose="020B0004020202020204" pitchFamily="34" charset="0"/>
                    <a:ea typeface="Calibri" panose="020F0502020204030204" pitchFamily="34" charset="0"/>
                  </a:rPr>
                  <a:t>Формулы для вычисления статистических параметров:</a:t>
                </a: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ˉ"/>
                        <m:ctrlPr>
                          <a:rPr lang="ru-RU" sz="2200" i="1"/>
                        </m:ctrlPr>
                      </m:accPr>
                      <m:e>
                        <m:r>
                          <a:rPr lang="ru-RU" sz="2200" i="1"/>
                          <m:t>𝑋</m:t>
                        </m:r>
                      </m:e>
                    </m:acc>
                    <m:r>
                      <a:rPr lang="ru-RU" sz="2200" i="1"/>
                      <m:t>=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r>
                          <a:rPr lang="ru-RU" sz="2200" i="1"/>
                          <m:t>1</m:t>
                        </m:r>
                      </m:num>
                      <m:den>
                        <m:r>
                          <a:rPr lang="ru-RU" sz="2200" i="1"/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200" i="1"/>
                        </m:ctrlPr>
                      </m:naryPr>
                      <m:sub>
                        <m:r>
                          <a:rPr lang="ru-RU" sz="2200" i="1"/>
                          <m:t>𝑖</m:t>
                        </m:r>
                        <m:r>
                          <a:rPr lang="ru-RU" sz="2200" i="1"/>
                          <m:t>=1</m:t>
                        </m:r>
                      </m:sub>
                      <m:sup>
                        <m:r>
                          <a:rPr lang="ru-RU" sz="2200" i="1"/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ru-RU" sz="2200" i="1"/>
                            </m:ctrlPr>
                          </m:sSubPr>
                          <m:e>
                            <m:r>
                              <a:rPr lang="ru-RU" sz="2200" i="1"/>
                              <m:t>𝑐</m:t>
                            </m:r>
                          </m:e>
                          <m:sub>
                            <m:r>
                              <a:rPr lang="ru-RU" sz="2200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𝑓</m:t>
                        </m:r>
                      </m:e>
                      <m:sub>
                        <m:r>
                          <a:rPr lang="ru-RU" sz="2200" i="1"/>
                          <m:t>𝑖</m:t>
                        </m:r>
                      </m:sub>
                    </m:sSub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ru-RU" sz="2200" i="1"/>
                      <m:t>𝐷</m:t>
                    </m:r>
                    <m:r>
                      <a:rPr lang="ru-RU" sz="2200" i="1"/>
                      <m:t>=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r>
                          <a:rPr lang="ru-RU" sz="2200" i="1"/>
                          <m:t>1</m:t>
                        </m:r>
                      </m:num>
                      <m:den>
                        <m:r>
                          <a:rPr lang="ru-RU" sz="2200" i="1"/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200" i="1"/>
                        </m:ctrlPr>
                      </m:naryPr>
                      <m:sub>
                        <m:r>
                          <a:rPr lang="ru-RU" sz="2200" i="1"/>
                          <m:t>𝑖</m:t>
                        </m:r>
                        <m:r>
                          <a:rPr lang="ru-RU" sz="2200" i="1"/>
                          <m:t>=1</m:t>
                        </m:r>
                      </m:sub>
                      <m:sup>
                        <m:r>
                          <a:rPr lang="ru-RU" sz="2200" i="1"/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ru-RU" sz="2200" i="1"/>
                            </m:ctrlPr>
                          </m:sSubPr>
                          <m:e>
                            <m:r>
                              <a:rPr lang="ru-RU" sz="2200" i="1"/>
                              <m:t>𝑓</m:t>
                            </m:r>
                          </m:e>
                          <m:sub>
                            <m:r>
                              <a:rPr lang="ru-RU" sz="2200" i="1"/>
                              <m:t>𝑖</m:t>
                            </m:r>
                          </m:sub>
                        </m:sSub>
                      </m:e>
                    </m:nary>
                    <m:r>
                      <a:rPr lang="ru-RU" sz="2200" i="1"/>
                      <m:t>(</m:t>
                    </m:r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𝑐</m:t>
                        </m:r>
                      </m:e>
                      <m:sub>
                        <m:r>
                          <a:rPr lang="ru-RU" sz="2200" i="1"/>
                          <m:t>𝑖</m:t>
                        </m:r>
                      </m:sub>
                    </m:sSub>
                    <m:r>
                      <a:rPr lang="ru-RU" sz="2200" i="1"/>
                      <m:t>−</m:t>
                    </m:r>
                    <m:acc>
                      <m:accPr>
                        <m:chr m:val="ˉ"/>
                        <m:ctrlPr>
                          <a:rPr lang="ru-RU" sz="2200" i="1"/>
                        </m:ctrlPr>
                      </m:accPr>
                      <m:e>
                        <m:r>
                          <a:rPr lang="ru-RU" sz="2200" i="1"/>
                          <m:t>𝑋</m:t>
                        </m:r>
                      </m:e>
                    </m:acc>
                    <m:sSup>
                      <m:sSupPr>
                        <m:ctrlPr>
                          <a:rPr lang="ru-RU" sz="2200" i="1"/>
                        </m:ctrlPr>
                      </m:sSupPr>
                      <m:e>
                        <m:r>
                          <a:rPr lang="ru-RU" sz="2200" i="1"/>
                          <m:t>)</m:t>
                        </m:r>
                      </m:e>
                      <m:sup>
                        <m:r>
                          <a:rPr lang="ru-RU" sz="2200" i="1"/>
                          <m:t>2</m:t>
                        </m:r>
                      </m:sup>
                    </m:sSup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ru-RU" sz="2200" i="1"/>
                      <m:t>𝜎</m:t>
                    </m:r>
                    <m:r>
                      <a:rPr lang="ru-RU" sz="2200" i="1"/>
                      <m:t>=</m:t>
                    </m:r>
                    <m:rad>
                      <m:radPr>
                        <m:degHide m:val="on"/>
                        <m:ctrlPr>
                          <a:rPr lang="ru-RU" sz="2200" i="1"/>
                        </m:ctrlPr>
                      </m:radPr>
                      <m:deg/>
                      <m:e>
                        <m:r>
                          <a:rPr lang="ru-RU" sz="2200" i="1"/>
                          <m:t>𝐷</m:t>
                        </m:r>
                      </m:e>
                    </m:rad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𝑚</m:t>
                        </m:r>
                      </m:e>
                      <m:sub>
                        <m:r>
                          <a:rPr lang="ru-RU" sz="2200" i="1"/>
                          <m:t>𝑟</m:t>
                        </m:r>
                      </m:sub>
                    </m:sSub>
                    <m:r>
                      <a:rPr lang="ru-RU" sz="2200" i="1"/>
                      <m:t>=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r>
                          <a:rPr lang="ru-RU" sz="2200" i="1"/>
                          <m:t>1</m:t>
                        </m:r>
                      </m:num>
                      <m:den>
                        <m:r>
                          <a:rPr lang="ru-RU" sz="2200" i="1"/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200" i="1"/>
                        </m:ctrlPr>
                      </m:naryPr>
                      <m:sub>
                        <m:r>
                          <a:rPr lang="ru-RU" sz="2200" i="1"/>
                          <m:t>𝑖</m:t>
                        </m:r>
                        <m:r>
                          <a:rPr lang="ru-RU" sz="2200" i="1"/>
                          <m:t>=1</m:t>
                        </m:r>
                      </m:sub>
                      <m:sup>
                        <m:r>
                          <a:rPr lang="ru-RU" sz="2200" i="1"/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ru-RU" sz="2200" i="1"/>
                            </m:ctrlPr>
                          </m:sSubPr>
                          <m:e>
                            <m:r>
                              <a:rPr lang="ru-RU" sz="2200" i="1"/>
                              <m:t>𝑓</m:t>
                            </m:r>
                          </m:e>
                          <m:sub>
                            <m:r>
                              <a:rPr lang="ru-RU" sz="2200" i="1"/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ru-RU" sz="2200" i="1"/>
                        </m:ctrlPr>
                      </m:sSubSupPr>
                      <m:e>
                        <m:r>
                          <a:rPr lang="ru-RU" sz="2200" i="1"/>
                          <m:t>𝑐</m:t>
                        </m:r>
                      </m:e>
                      <m:sub>
                        <m:r>
                          <a:rPr lang="ru-RU" sz="2200" i="1"/>
                          <m:t>𝑖</m:t>
                        </m:r>
                      </m:sub>
                      <m:sup>
                        <m:r>
                          <m:rPr>
                            <m:nor/>
                          </m:rPr>
                          <a:rPr lang="ru-RU" sz="2200">
                            <a:latin typeface="Aptos" panose="020B0004020202020204" pitchFamily="34" charset="0"/>
                          </a:rPr>
                          <m:t> </m:t>
                        </m:r>
                        <m:r>
                          <a:rPr lang="ru-RU" sz="2200" i="1"/>
                          <m:t>𝑟</m:t>
                        </m:r>
                      </m:sup>
                    </m:sSubSup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𝜇</m:t>
                        </m:r>
                      </m:e>
                      <m:sub>
                        <m:r>
                          <a:rPr lang="ru-RU" sz="2200" i="1"/>
                          <m:t>𝑟</m:t>
                        </m:r>
                      </m:sub>
                    </m:sSub>
                    <m:r>
                      <a:rPr lang="ru-RU" sz="2200" i="1"/>
                      <m:t>=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r>
                          <a:rPr lang="ru-RU" sz="2200" i="1"/>
                          <m:t>1</m:t>
                        </m:r>
                      </m:num>
                      <m:den>
                        <m:r>
                          <a:rPr lang="ru-RU" sz="2200" i="1"/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ru-RU" sz="2200" i="1"/>
                        </m:ctrlPr>
                      </m:naryPr>
                      <m:sub>
                        <m:r>
                          <a:rPr lang="ru-RU" sz="2200" i="1"/>
                          <m:t>𝑖</m:t>
                        </m:r>
                        <m:r>
                          <a:rPr lang="ru-RU" sz="2200" i="1"/>
                          <m:t>=1</m:t>
                        </m:r>
                      </m:sub>
                      <m:sup>
                        <m:r>
                          <a:rPr lang="ru-RU" sz="2200" i="1"/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ru-RU" sz="2200" i="1"/>
                            </m:ctrlPr>
                          </m:sSubPr>
                          <m:e>
                            <m:r>
                              <a:rPr lang="ru-RU" sz="2200" i="1"/>
                              <m:t>𝑓</m:t>
                            </m:r>
                          </m:e>
                          <m:sub>
                            <m:r>
                              <a:rPr lang="ru-RU" sz="2200" i="1"/>
                              <m:t>𝑖</m:t>
                            </m:r>
                          </m:sub>
                        </m:sSub>
                      </m:e>
                    </m:nary>
                    <m:r>
                      <a:rPr lang="ru-RU" sz="2200" i="1"/>
                      <m:t>(</m:t>
                    </m:r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𝑐</m:t>
                        </m:r>
                      </m:e>
                      <m:sub>
                        <m:r>
                          <a:rPr lang="ru-RU" sz="2200" i="1"/>
                          <m:t>𝑖</m:t>
                        </m:r>
                      </m:sub>
                    </m:sSub>
                    <m:r>
                      <a:rPr lang="ru-RU" sz="2200" i="1"/>
                      <m:t>−</m:t>
                    </m:r>
                    <m:acc>
                      <m:accPr>
                        <m:chr m:val="ˉ"/>
                        <m:ctrlPr>
                          <a:rPr lang="ru-RU" sz="2200" i="1"/>
                        </m:ctrlPr>
                      </m:accPr>
                      <m:e>
                        <m:r>
                          <a:rPr lang="ru-RU" sz="2200" i="1"/>
                          <m:t>𝑋</m:t>
                        </m:r>
                      </m:e>
                    </m:acc>
                    <m:sSup>
                      <m:sSupPr>
                        <m:ctrlPr>
                          <a:rPr lang="ru-RU" sz="2200" i="1"/>
                        </m:ctrlPr>
                      </m:sSupPr>
                      <m:e>
                        <m:r>
                          <a:rPr lang="ru-RU" sz="2200" i="1"/>
                          <m:t>)</m:t>
                        </m:r>
                      </m:e>
                      <m:sup>
                        <m:r>
                          <a:rPr lang="ru-RU" sz="2200" i="1"/>
                          <m:t>𝑟</m:t>
                        </m:r>
                      </m:sup>
                    </m:sSup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ru-RU" sz="2200" i="1"/>
                      <m:t>𝑆</m:t>
                    </m:r>
                    <m:r>
                      <a:rPr lang="ru-RU" sz="2200" i="1"/>
                      <m:t>=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sSub>
                          <m:sSubPr>
                            <m:ctrlPr>
                              <a:rPr lang="ru-RU" sz="2200" i="1"/>
                            </m:ctrlPr>
                          </m:sSubPr>
                          <m:e>
                            <m:r>
                              <a:rPr lang="ru-RU" sz="2200" i="1"/>
                              <m:t>𝜇</m:t>
                            </m:r>
                          </m:e>
                          <m:sub>
                            <m:r>
                              <a:rPr lang="ru-RU" sz="2200" i="1"/>
                              <m:t>3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ru-RU" sz="2200" i="1"/>
                            </m:ctrlPr>
                          </m:sSubSupPr>
                          <m:e>
                            <m:r>
                              <a:rPr lang="ru-RU" sz="2200" i="1"/>
                              <m:t>𝜇</m:t>
                            </m:r>
                          </m:e>
                          <m:sub>
                            <m:r>
                              <a:rPr lang="ru-RU" sz="2200" i="1"/>
                              <m:t>2</m:t>
                            </m:r>
                          </m:sub>
                          <m:sup>
                            <m:r>
                              <a:rPr lang="ru-RU" sz="2200" i="1"/>
                              <m:t>3</m:t>
                            </m:r>
                            <m:r>
                              <a:rPr lang="ru-RU" sz="2200"/>
                              <m:t>/</m:t>
                            </m:r>
                            <m:r>
                              <a:rPr lang="ru-RU" sz="2200" i="1"/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r>
                      <a:rPr lang="ru-RU" sz="2200" i="1"/>
                      <m:t>𝐾</m:t>
                    </m:r>
                    <m:r>
                      <a:rPr lang="ru-RU" sz="2200" i="1"/>
                      <m:t>=</m:t>
                    </m:r>
                    <m:f>
                      <m:fPr>
                        <m:ctrlPr>
                          <a:rPr lang="ru-RU" sz="2200" i="1"/>
                        </m:ctrlPr>
                      </m:fPr>
                      <m:num>
                        <m:sSub>
                          <m:sSubPr>
                            <m:ctrlPr>
                              <a:rPr lang="ru-RU" sz="2200" i="1"/>
                            </m:ctrlPr>
                          </m:sSubPr>
                          <m:e>
                            <m:r>
                              <a:rPr lang="ru-RU" sz="2200" i="1"/>
                              <m:t>𝜇</m:t>
                            </m:r>
                          </m:e>
                          <m:sub>
                            <m:r>
                              <a:rPr lang="ru-RU" sz="2200" i="1"/>
                              <m:t>4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ru-RU" sz="2200" i="1"/>
                            </m:ctrlPr>
                          </m:sSubSupPr>
                          <m:e>
                            <m:r>
                              <a:rPr lang="ru-RU" sz="2200" i="1"/>
                              <m:t>𝜇</m:t>
                            </m:r>
                          </m:e>
                          <m:sub>
                            <m:r>
                              <a:rPr lang="ru-RU" sz="2200" i="1"/>
                              <m:t>2</m:t>
                            </m:r>
                          </m:sub>
                          <m:sup>
                            <m:r>
                              <a:rPr lang="ru-RU" sz="2200" i="1"/>
                              <m:t>2</m:t>
                            </m:r>
                          </m:sup>
                        </m:sSubSup>
                      </m:den>
                    </m:f>
                    <m:r>
                      <a:rPr lang="ru-RU" sz="2200" i="1"/>
                      <m:t>−3</m:t>
                    </m:r>
                  </m:oMath>
                </a14:m>
                <a:endParaRPr lang="ru-RU" sz="2200" dirty="0">
                  <a:effectLst/>
                  <a:latin typeface="Aptos" panose="020B0004020202020204" pitchFamily="34" charset="0"/>
                  <a:ea typeface="Calibri" panose="020F0502020204030204" pitchFamily="34" charset="0"/>
                </a:endParaRPr>
              </a:p>
              <a:p>
                <a:endParaRPr lang="ru-RU" sz="20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D76838-8B69-FF96-DB67-37F45A9AC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36" y="2374280"/>
                <a:ext cx="4085591" cy="4472443"/>
              </a:xfrm>
              <a:prstGeom prst="rect">
                <a:avLst/>
              </a:prstGeom>
              <a:blipFill>
                <a:blip r:embed="rId3"/>
                <a:stretch>
                  <a:fillRect l="-1940" t="-8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06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3A17D-244F-5A60-B9B8-9D12BE8B2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E1C46-58E3-423F-4F92-2FA0A108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4" y="-79087"/>
            <a:ext cx="11020926" cy="88440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Короткопериодные волны: гистограммы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8D9A2D-D53E-9A92-851A-1148FA24FF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390" y="751880"/>
                <a:ext cx="3518543" cy="3320794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Формула </a:t>
                </a:r>
                <a:r>
                  <a:rPr lang="ru-RU" sz="2200" dirty="0" err="1">
                    <a:latin typeface="Aptos" panose="020B0004020202020204" pitchFamily="34" charset="0"/>
                  </a:rPr>
                  <a:t>Стерджесса</a:t>
                </a:r>
                <a:r>
                  <a:rPr lang="ru-RU" sz="2200" dirty="0">
                    <a:latin typeface="Aptos" panose="020B0004020202020204" pitchFamily="34" charset="0"/>
                  </a:rPr>
                  <a:t>: 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ru-RU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20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ru-RU" sz="2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2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На гистограмму наложена оценка KDE –</a:t>
                </a:r>
                <a:r>
                  <a:rPr lang="ru-RU" sz="2200" b="1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>
                    <a:latin typeface="Aptos" panose="020B0004020202020204" pitchFamily="34" charset="0"/>
                  </a:rPr>
                  <a:t>непараметрический метод сглаживания гистограммы для восстановления формы распределения.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18D9A2D-D53E-9A92-851A-1148FA24F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390" y="751880"/>
                <a:ext cx="3518543" cy="3320794"/>
              </a:xfrm>
              <a:blipFill>
                <a:blip r:embed="rId2"/>
                <a:stretch>
                  <a:fillRect l="-2253" t="-2018" r="-1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AAE19B6-A50F-B4C7-D8C1-913DB2DB3DE9}"/>
              </a:ext>
            </a:extLst>
          </p:cNvPr>
          <p:cNvSpPr txBox="1">
            <a:spLocks/>
          </p:cNvSpPr>
          <p:nvPr/>
        </p:nvSpPr>
        <p:spPr>
          <a:xfrm>
            <a:off x="1" y="6237412"/>
            <a:ext cx="641684" cy="620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CE8EC9-836F-5E3D-90DE-4F12AE287700}"/>
                  </a:ext>
                </a:extLst>
              </p:cNvPr>
              <p:cNvSpPr txBox="1"/>
              <p:nvPr/>
            </p:nvSpPr>
            <p:spPr>
              <a:xfrm>
                <a:off x="1847526" y="4274255"/>
                <a:ext cx="875702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Aptos" panose="020B0004020202020204" pitchFamily="34" charset="0"/>
                  </a:rPr>
                  <a:t>Таблица 2 – Результаты проверки согласия для высоты </a:t>
                </a:r>
                <a14:m>
                  <m:oMath xmlns:m="http://schemas.openxmlformats.org/officeDocument/2006/math">
                    <m:r>
                      <a:rPr lang="ru-RU" i="1"/>
                      <m:t>𝐻</m:t>
                    </m:r>
                  </m:oMath>
                </a14:m>
                <a:r>
                  <a:rPr lang="ru-RU" dirty="0">
                    <a:latin typeface="Aptos" panose="020B0004020202020204" pitchFamily="34" charset="0"/>
                  </a:rPr>
                  <a:t> и периода волн </a:t>
                </a:r>
                <a14:m>
                  <m:oMath xmlns:m="http://schemas.openxmlformats.org/officeDocument/2006/math">
                    <m:r>
                      <a:rPr lang="ru-RU" i="1"/>
                      <m:t>𝑇</m:t>
                    </m:r>
                  </m:oMath>
                </a14:m>
                <a:endParaRPr lang="ru-RU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br>
                  <a:rPr lang="ru-RU" dirty="0">
                    <a:latin typeface="Aptos" panose="020B0004020202020204" pitchFamily="34" charset="0"/>
                  </a:rPr>
                </a:br>
                <a:endParaRPr lang="ru-RU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CE8EC9-836F-5E3D-90DE-4F12AE287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6" y="4274255"/>
                <a:ext cx="8757023" cy="954107"/>
              </a:xfrm>
              <a:prstGeom prst="rect">
                <a:avLst/>
              </a:prstGeom>
              <a:blipFill>
                <a:blip r:embed="rId3"/>
                <a:stretch>
                  <a:fillRect l="-557" t="-2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8DC937B8-9684-1FAF-6F86-CF46E880B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5138680"/>
                  </p:ext>
                </p:extLst>
              </p:nvPr>
            </p:nvGraphicFramePr>
            <p:xfrm>
              <a:off x="1090680" y="4677418"/>
              <a:ext cx="10270717" cy="197143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72146">
                      <a:extLst>
                        <a:ext uri="{9D8B030D-6E8A-4147-A177-3AD203B41FA5}">
                          <a16:colId xmlns:a16="http://schemas.microsoft.com/office/drawing/2014/main" val="830699036"/>
                        </a:ext>
                      </a:extLst>
                    </a:gridCol>
                    <a:gridCol w="1468581">
                      <a:extLst>
                        <a:ext uri="{9D8B030D-6E8A-4147-A177-3AD203B41FA5}">
                          <a16:colId xmlns:a16="http://schemas.microsoft.com/office/drawing/2014/main" val="823583136"/>
                        </a:ext>
                      </a:extLst>
                    </a:gridCol>
                    <a:gridCol w="766619">
                      <a:extLst>
                        <a:ext uri="{9D8B030D-6E8A-4147-A177-3AD203B41FA5}">
                          <a16:colId xmlns:a16="http://schemas.microsoft.com/office/drawing/2014/main" val="2445812943"/>
                        </a:ext>
                      </a:extLst>
                    </a:gridCol>
                    <a:gridCol w="434109">
                      <a:extLst>
                        <a:ext uri="{9D8B030D-6E8A-4147-A177-3AD203B41FA5}">
                          <a16:colId xmlns:a16="http://schemas.microsoft.com/office/drawing/2014/main" val="3593512812"/>
                        </a:ext>
                      </a:extLst>
                    </a:gridCol>
                    <a:gridCol w="1330036">
                      <a:extLst>
                        <a:ext uri="{9D8B030D-6E8A-4147-A177-3AD203B41FA5}">
                          <a16:colId xmlns:a16="http://schemas.microsoft.com/office/drawing/2014/main" val="3559832915"/>
                        </a:ext>
                      </a:extLst>
                    </a:gridCol>
                    <a:gridCol w="1376218">
                      <a:extLst>
                        <a:ext uri="{9D8B030D-6E8A-4147-A177-3AD203B41FA5}">
                          <a16:colId xmlns:a16="http://schemas.microsoft.com/office/drawing/2014/main" val="3765017524"/>
                        </a:ext>
                      </a:extLst>
                    </a:gridCol>
                    <a:gridCol w="858982">
                      <a:extLst>
                        <a:ext uri="{9D8B030D-6E8A-4147-A177-3AD203B41FA5}">
                          <a16:colId xmlns:a16="http://schemas.microsoft.com/office/drawing/2014/main" val="3128615339"/>
                        </a:ext>
                      </a:extLst>
                    </a:gridCol>
                    <a:gridCol w="424873">
                      <a:extLst>
                        <a:ext uri="{9D8B030D-6E8A-4147-A177-3AD203B41FA5}">
                          <a16:colId xmlns:a16="http://schemas.microsoft.com/office/drawing/2014/main" val="1506767071"/>
                        </a:ext>
                      </a:extLst>
                    </a:gridCol>
                    <a:gridCol w="1339153">
                      <a:extLst>
                        <a:ext uri="{9D8B030D-6E8A-4147-A177-3AD203B41FA5}">
                          <a16:colId xmlns:a16="http://schemas.microsoft.com/office/drawing/2014/main" val="993033963"/>
                        </a:ext>
                      </a:extLst>
                    </a:gridCol>
                  </a:tblGrid>
                  <a:tr h="21959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 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Высота 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Период Т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4149574"/>
                      </a:ext>
                    </a:extLst>
                  </a:tr>
                  <a:tr h="43918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Закон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крит</m:t>
                                    </m:r>
                                  </m:sub>
                                  <m:sup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ru-RU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0.05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ru-RU" sz="20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kern="100">
                                        <a:effectLst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ru-RU" sz="2000" kern="100">
                                        <a:effectLst/>
                                      </a:rPr>
                                      <m:t>набл</m:t>
                                    </m:r>
                                  </m:sub>
                                  <m:sup>
                                    <m:r>
                                      <a:rPr lang="ru-RU" sz="2000" kern="100"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Проверка гипотезы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крит</m:t>
                                    </m:r>
                                  </m:sub>
                                  <m:sup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ru-RU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20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ru-RU" sz="20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0.05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ru-RU" sz="2000" kern="100">
                                        <a:effectLst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000" kern="100">
                                        <a:effectLst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ru-RU" sz="2000" kern="100">
                                        <a:effectLst/>
                                      </a:rPr>
                                      <m:t>набл</m:t>
                                    </m:r>
                                  </m:sub>
                                  <m:sup>
                                    <m:r>
                                      <a:rPr lang="ru-RU" sz="2000" kern="100"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Проверка гипотезы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4819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Логнормальный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20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3.8415</m:t>
                                </m:r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99.29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20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9.4877</m:t>
                                </m:r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68.66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561330"/>
                      </a:ext>
                    </a:extLst>
                  </a:tr>
                  <a:tr h="35861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Обратный Гаусса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20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3.8415</m:t>
                                </m:r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100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20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9.4877</m:t>
                                </m:r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66.34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2868931"/>
                      </a:ext>
                    </a:extLst>
                  </a:tr>
                  <a:tr h="3602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Обратный Гамма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20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3.8415</m:t>
                                </m:r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70.83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ru-RU" sz="20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11.0705</m:t>
                                </m:r>
                              </m:oMath>
                            </m:oMathPara>
                          </a14:m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55.63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5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78291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8DC937B8-9684-1FAF-6F86-CF46E880BE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5138680"/>
                  </p:ext>
                </p:extLst>
              </p:nvPr>
            </p:nvGraphicFramePr>
            <p:xfrm>
              <a:off x="1090680" y="4677418"/>
              <a:ext cx="10270717" cy="197143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272146">
                      <a:extLst>
                        <a:ext uri="{9D8B030D-6E8A-4147-A177-3AD203B41FA5}">
                          <a16:colId xmlns:a16="http://schemas.microsoft.com/office/drawing/2014/main" val="830699036"/>
                        </a:ext>
                      </a:extLst>
                    </a:gridCol>
                    <a:gridCol w="1468581">
                      <a:extLst>
                        <a:ext uri="{9D8B030D-6E8A-4147-A177-3AD203B41FA5}">
                          <a16:colId xmlns:a16="http://schemas.microsoft.com/office/drawing/2014/main" val="823583136"/>
                        </a:ext>
                      </a:extLst>
                    </a:gridCol>
                    <a:gridCol w="766619">
                      <a:extLst>
                        <a:ext uri="{9D8B030D-6E8A-4147-A177-3AD203B41FA5}">
                          <a16:colId xmlns:a16="http://schemas.microsoft.com/office/drawing/2014/main" val="2445812943"/>
                        </a:ext>
                      </a:extLst>
                    </a:gridCol>
                    <a:gridCol w="434109">
                      <a:extLst>
                        <a:ext uri="{9D8B030D-6E8A-4147-A177-3AD203B41FA5}">
                          <a16:colId xmlns:a16="http://schemas.microsoft.com/office/drawing/2014/main" val="3593512812"/>
                        </a:ext>
                      </a:extLst>
                    </a:gridCol>
                    <a:gridCol w="1330036">
                      <a:extLst>
                        <a:ext uri="{9D8B030D-6E8A-4147-A177-3AD203B41FA5}">
                          <a16:colId xmlns:a16="http://schemas.microsoft.com/office/drawing/2014/main" val="3559832915"/>
                        </a:ext>
                      </a:extLst>
                    </a:gridCol>
                    <a:gridCol w="1376218">
                      <a:extLst>
                        <a:ext uri="{9D8B030D-6E8A-4147-A177-3AD203B41FA5}">
                          <a16:colId xmlns:a16="http://schemas.microsoft.com/office/drawing/2014/main" val="3765017524"/>
                        </a:ext>
                      </a:extLst>
                    </a:gridCol>
                    <a:gridCol w="858982">
                      <a:extLst>
                        <a:ext uri="{9D8B030D-6E8A-4147-A177-3AD203B41FA5}">
                          <a16:colId xmlns:a16="http://schemas.microsoft.com/office/drawing/2014/main" val="3128615339"/>
                        </a:ext>
                      </a:extLst>
                    </a:gridCol>
                    <a:gridCol w="424873">
                      <a:extLst>
                        <a:ext uri="{9D8B030D-6E8A-4147-A177-3AD203B41FA5}">
                          <a16:colId xmlns:a16="http://schemas.microsoft.com/office/drawing/2014/main" val="1506767071"/>
                        </a:ext>
                      </a:extLst>
                    </a:gridCol>
                    <a:gridCol w="1339153">
                      <a:extLst>
                        <a:ext uri="{9D8B030D-6E8A-4147-A177-3AD203B41FA5}">
                          <a16:colId xmlns:a16="http://schemas.microsoft.com/office/drawing/2014/main" val="99303396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 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Высота 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Период Т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4149574"/>
                      </a:ext>
                    </a:extLst>
                  </a:tr>
                  <a:tr h="64300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Закон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55187" t="-59434" r="-445643" b="-173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88095" t="-59434" r="-752381" b="-173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Проверка гипотезы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8222" t="-59434" r="-192444" b="-173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890780" t="-59434" r="-207092" b="-173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ν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Проверка гипотезы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54819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Логнормальный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55187" t="-338000" r="-445643" b="-2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99.29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8222" t="-338000" r="-192444" b="-2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68.66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561330"/>
                      </a:ext>
                    </a:extLst>
                  </a:tr>
                  <a:tr h="35861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Обратный Гаусса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55187" t="-371186" r="-445643" b="-12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100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8222" t="-371186" r="-192444" b="-12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66.34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4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2868931"/>
                      </a:ext>
                    </a:extLst>
                  </a:tr>
                  <a:tr h="3602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Обратный Гамма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55187" t="-471186" r="-445643" b="-2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70.83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1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58222" t="-471186" r="-192444" b="-271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55.63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</a:rPr>
                            <a:t>5</a:t>
                          </a:r>
                          <a:endParaRPr lang="ru-RU" sz="2000" kern="1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000" kern="100" dirty="0">
                              <a:effectLst/>
                              <a:latin typeface="Aptos" panose="020B000402020202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Х</a:t>
                          </a: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782911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D0A7AB-F91B-D6E4-102C-C29C677BC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108" y="611278"/>
            <a:ext cx="7514235" cy="31386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55F008-4B70-74B9-8378-F403353BF4C8}"/>
              </a:ext>
            </a:extLst>
          </p:cNvPr>
          <p:cNvSpPr txBox="1"/>
          <p:nvPr/>
        </p:nvSpPr>
        <p:spPr>
          <a:xfrm>
            <a:off x="3853737" y="3688905"/>
            <a:ext cx="7808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Рис. </a:t>
            </a:r>
            <a:r>
              <a:rPr lang="ru-RU" dirty="0">
                <a:latin typeface="Aptos" panose="020B0004020202020204" pitchFamily="34" charset="0"/>
                <a:ea typeface="Times New Roman" panose="02020603050405020304" pitchFamily="18" charset="0"/>
              </a:rPr>
              <a:t>11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– Распределения высоты (H) и периода (T) волн на изотерме 15.5 °C: гистограммы и сглаженные оценки плотности KDE.</a:t>
            </a:r>
            <a:endParaRPr lang="ru-RU" sz="16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41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9D2BB-DE82-A474-1EB0-5D1BF412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E7A75-70A4-F4F9-BC91-ED779749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6" y="110205"/>
            <a:ext cx="11438021" cy="88440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Повторяемость волн на разных изотермах и их спектры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0F354-F9EA-FDAB-56E9-1A8DD769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84" y="994611"/>
            <a:ext cx="11020927" cy="7386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latin typeface="Aptos" panose="020B0004020202020204" pitchFamily="34" charset="0"/>
              </a:rPr>
              <a:t>Для изотерм 15,0 °C, 16,0 °C и 17,0 °C зафиксирована наибольшая повторяемость волновых событий – 324, 322 и 239 волн.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94EAD49-BDE5-1C8E-6146-4714804A3BA3}"/>
              </a:ext>
            </a:extLst>
          </p:cNvPr>
          <p:cNvSpPr txBox="1">
            <a:spLocks/>
          </p:cNvSpPr>
          <p:nvPr/>
        </p:nvSpPr>
        <p:spPr>
          <a:xfrm>
            <a:off x="1" y="6237412"/>
            <a:ext cx="641684" cy="620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17EA7-854E-23EB-1385-82F8108FCA43}"/>
              </a:ext>
            </a:extLst>
          </p:cNvPr>
          <p:cNvSpPr txBox="1"/>
          <p:nvPr/>
        </p:nvSpPr>
        <p:spPr>
          <a:xfrm>
            <a:off x="641684" y="2869811"/>
            <a:ext cx="43755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ru-RU" sz="2100" dirty="0">
                <a:latin typeface="Aptos" panose="020B0004020202020204" pitchFamily="34" charset="0"/>
              </a:rPr>
            </a:br>
            <a:endParaRPr lang="ru-RU" sz="2100" dirty="0">
              <a:latin typeface="Aptos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04034A-FF2A-DD30-738F-077D394DA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3" b="2024"/>
          <a:stretch>
            <a:fillRect/>
          </a:stretch>
        </p:blipFill>
        <p:spPr>
          <a:xfrm>
            <a:off x="2408044" y="1733276"/>
            <a:ext cx="7488203" cy="4368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0B96A9-ED24-0A63-C034-00C828C4C605}"/>
              </a:ext>
            </a:extLst>
          </p:cNvPr>
          <p:cNvSpPr txBox="1"/>
          <p:nvPr/>
        </p:nvSpPr>
        <p:spPr>
          <a:xfrm>
            <a:off x="1928196" y="6101464"/>
            <a:ext cx="844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Рис. 12 – Спектральная плотность мощности (PSD) для изотерм 15,0; 16,0; 17,0 °C. Пунктирными линиями показаны линейные аппроксимации наклона.</a:t>
            </a:r>
            <a:endParaRPr lang="ru-RU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635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292C1-18E8-8A50-D482-A543C6DA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C956A-B3DF-EB03-B0E1-1D051DE7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4" y="-79087"/>
            <a:ext cx="11020926" cy="88440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Короткопериодные волны: цуги, сравнение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4250E31-08FB-FD71-085A-662FFDF82E84}"/>
              </a:ext>
            </a:extLst>
          </p:cNvPr>
          <p:cNvSpPr txBox="1">
            <a:spLocks/>
          </p:cNvSpPr>
          <p:nvPr/>
        </p:nvSpPr>
        <p:spPr>
          <a:xfrm>
            <a:off x="1" y="6237412"/>
            <a:ext cx="641684" cy="620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3407F-E0C6-A5B9-9155-BB29133839B7}"/>
              </a:ext>
            </a:extLst>
          </p:cNvPr>
          <p:cNvSpPr txBox="1"/>
          <p:nvPr/>
        </p:nvSpPr>
        <p:spPr>
          <a:xfrm>
            <a:off x="641684" y="805319"/>
            <a:ext cx="496541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Aptos" panose="020B0004020202020204" pitchFamily="34" charset="0"/>
              </a:rPr>
              <a:t>Цугом</a:t>
            </a:r>
            <a:r>
              <a:rPr lang="ru-RU" sz="2200" dirty="0">
                <a:latin typeface="Aptos" panose="020B0004020202020204" pitchFamily="34" charset="0"/>
              </a:rPr>
              <a:t> называется последовательность из трёх и более волн, следующих с близкими периодами и сопоставимыми амплитудами, имеющая общую огибающую (нарастание, максимум, затухание) и единый механизм генерации. </a:t>
            </a:r>
          </a:p>
          <a:p>
            <a:r>
              <a:rPr lang="ru-RU" sz="2200" dirty="0">
                <a:latin typeface="Aptos" panose="020B0004020202020204" pitchFamily="34" charset="0"/>
              </a:rPr>
              <a:t>В качестве примера рассмотрен временной интервал 11:00–13:00 16 июня 2023 года, на котором изотерма 15,5 °C зафиксировала семь волн, удовлетворяющих критериям H ≥ 0,5 м и T ≥ 3 мин.</a:t>
            </a:r>
            <a:br>
              <a:rPr lang="ru-RU" sz="2200" dirty="0">
                <a:latin typeface="Aptos" panose="020B0004020202020204" pitchFamily="34" charset="0"/>
              </a:rPr>
            </a:br>
            <a:endParaRPr lang="ru-RU" sz="2200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3BD52-5E04-F31A-A8E6-67EA21CB154E}"/>
              </a:ext>
            </a:extLst>
          </p:cNvPr>
          <p:cNvSpPr txBox="1"/>
          <p:nvPr/>
        </p:nvSpPr>
        <p:spPr>
          <a:xfrm>
            <a:off x="5672212" y="5486400"/>
            <a:ext cx="61797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Рис. </a:t>
            </a:r>
            <a:r>
              <a:rPr lang="ru-RU" dirty="0">
                <a:latin typeface="Aptos" panose="020B0004020202020204" pitchFamily="34" charset="0"/>
                <a:ea typeface="Times New Roman" panose="02020603050405020304" pitchFamily="18" charset="0"/>
              </a:rPr>
              <a:t>13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– </a:t>
            </a:r>
            <a:r>
              <a:rPr lang="ru-RU" dirty="0"/>
              <a:t>Вертикальные смещения изотерм в диапазоне 14–20 °C в окрестности цуга КВ 16.06.2023  (11:00–13:00)</a:t>
            </a:r>
            <a:endParaRPr lang="ru-RU" sz="1600" dirty="0"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B0ADC2AE-9CB7-6FFD-7DD5-9D1B2C8E1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71" r="28612"/>
          <a:stretch>
            <a:fillRect/>
          </a:stretch>
        </p:blipFill>
        <p:spPr bwMode="auto">
          <a:xfrm>
            <a:off x="5639654" y="829937"/>
            <a:ext cx="6179793" cy="467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8957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7A51C-2AB8-A06B-4C4B-C64C0A0D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11E80-E0B4-7BFE-5AFB-FFE8A427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4" y="-79087"/>
            <a:ext cx="11020926" cy="88440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Aptos" panose="020B0004020202020204" pitchFamily="34" charset="0"/>
              </a:rPr>
              <a:t>Короткопериодные волны: сравнение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819B73B-5D18-3DAC-6C27-9AEB5B52ED6D}"/>
              </a:ext>
            </a:extLst>
          </p:cNvPr>
          <p:cNvSpPr txBox="1">
            <a:spLocks/>
          </p:cNvSpPr>
          <p:nvPr/>
        </p:nvSpPr>
        <p:spPr>
          <a:xfrm>
            <a:off x="1" y="6237412"/>
            <a:ext cx="641684" cy="620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F9D22-83C0-25A3-6880-7956A644127E}"/>
              </a:ext>
            </a:extLst>
          </p:cNvPr>
          <p:cNvSpPr txBox="1"/>
          <p:nvPr/>
        </p:nvSpPr>
        <p:spPr>
          <a:xfrm>
            <a:off x="641684" y="618716"/>
            <a:ext cx="107121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ptos" panose="020B0004020202020204" pitchFamily="34" charset="0"/>
              </a:rPr>
              <a:t>Сравнение с результатами предыдущих исследований (Очередник и Зацепин, 2023)</a:t>
            </a:r>
          </a:p>
          <a:p>
            <a:endParaRPr lang="ru-RU" sz="2200" dirty="0">
              <a:latin typeface="Aptos" panose="020B0004020202020204" pitchFamily="34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F248043F-9575-2932-5FA9-A4B79EDB3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976812"/>
              </p:ext>
            </p:extLst>
          </p:nvPr>
        </p:nvGraphicFramePr>
        <p:xfrm>
          <a:off x="1609225" y="1667944"/>
          <a:ext cx="8973551" cy="38788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4079">
                  <a:extLst>
                    <a:ext uri="{9D8B030D-6E8A-4147-A177-3AD203B41FA5}">
                      <a16:colId xmlns:a16="http://schemas.microsoft.com/office/drawing/2014/main" val="20135820"/>
                    </a:ext>
                  </a:extLst>
                </a:gridCol>
                <a:gridCol w="3074736">
                  <a:extLst>
                    <a:ext uri="{9D8B030D-6E8A-4147-A177-3AD203B41FA5}">
                      <a16:colId xmlns:a16="http://schemas.microsoft.com/office/drawing/2014/main" val="4237940802"/>
                    </a:ext>
                  </a:extLst>
                </a:gridCol>
                <a:gridCol w="3074736">
                  <a:extLst>
                    <a:ext uri="{9D8B030D-6E8A-4147-A177-3AD203B41FA5}">
                      <a16:colId xmlns:a16="http://schemas.microsoft.com/office/drawing/2014/main" val="1164388183"/>
                    </a:ext>
                  </a:extLst>
                </a:gridCol>
              </a:tblGrid>
              <a:tr h="782122">
                <a:tc>
                  <a:txBody>
                    <a:bodyPr/>
                    <a:lstStyle/>
                    <a:p>
                      <a:pPr algn="ctr"/>
                      <a:r>
                        <a:rPr lang="ru-RU" sz="22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Параметр</a:t>
                      </a:r>
                      <a:endParaRPr lang="ru-RU" sz="2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Очередник (весна)</a:t>
                      </a:r>
                      <a:endParaRPr lang="ru-RU" sz="2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Настоящее исследование (лето)</a:t>
                      </a:r>
                      <a:endParaRPr lang="ru-RU" sz="2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11271"/>
                  </a:ext>
                </a:extLst>
              </a:tr>
              <a:tr h="105359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Периоды волн в цугах</a:t>
                      </a:r>
                      <a:endParaRPr lang="ru-RU" sz="22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4,25–17,15 мин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3,0–15,5 мин (ср. 5,09 мин)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T="95250" marB="952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73972"/>
                  </a:ext>
                </a:extLst>
              </a:tr>
              <a:tr h="66276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Амплитуды (высоты)</a:t>
                      </a:r>
                      <a:endParaRPr lang="ru-RU" sz="22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1–10 м (размах)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0,5–2,94 м (ср. 0,73 м)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T="95250" marB="952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513944"/>
                  </a:ext>
                </a:extLst>
              </a:tr>
              <a:tr h="6006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Число волн в цуге</a:t>
                      </a:r>
                      <a:endParaRPr lang="ru-RU" sz="22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3–16</a:t>
                      </a:r>
                      <a:endParaRPr lang="ru-RU" sz="22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до 7 в рассмотренном примере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T="95250" marB="952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15768"/>
                  </a:ext>
                </a:extLst>
              </a:tr>
              <a:tr h="6006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Критерий отбора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без порога (оценка размаха)</a:t>
                      </a:r>
                      <a:endParaRPr lang="ru-RU" sz="2200" b="0" i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2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H ≥ 0,5 м (исключение шума)</a:t>
                      </a:r>
                      <a:endParaRPr lang="ru-RU" sz="2200" b="0" i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2400" marT="95250" marB="952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074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DC7CB1D-030C-2B40-19B7-EC3D3E0E9E4F}"/>
              </a:ext>
            </a:extLst>
          </p:cNvPr>
          <p:cNvSpPr txBox="1"/>
          <p:nvPr/>
        </p:nvSpPr>
        <p:spPr>
          <a:xfrm>
            <a:off x="1555083" y="1311213"/>
            <a:ext cx="90276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ptos" panose="020B0004020202020204" pitchFamily="34" charset="0"/>
              </a:rPr>
              <a:t>Таблица 3 – Результаты сравнения полученных данных с опубликованными</a:t>
            </a:r>
          </a:p>
          <a:p>
            <a:pPr marL="0" indent="0">
              <a:buNone/>
            </a:pPr>
            <a:br>
              <a:rPr lang="ru-RU" dirty="0">
                <a:latin typeface="Aptos" panose="020B0004020202020204" pitchFamily="34" charset="0"/>
              </a:rPr>
            </a:b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8A85E-E6FF-1640-1AEE-B8019ABBA179}"/>
              </a:ext>
            </a:extLst>
          </p:cNvPr>
          <p:cNvSpPr txBox="1"/>
          <p:nvPr/>
        </p:nvSpPr>
        <p:spPr>
          <a:xfrm>
            <a:off x="1609225" y="5639971"/>
            <a:ext cx="91409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Aptos" panose="020B0004020202020204" pitchFamily="34" charset="0"/>
              </a:rPr>
              <a:t>Различия объясняются сезоном: летом термоклин устойчивее, что ограничивает амплитуды, а также разными критериями отбора волн.</a:t>
            </a:r>
          </a:p>
        </p:txBody>
      </p:sp>
    </p:spTree>
    <p:extLst>
      <p:ext uri="{BB962C8B-B14F-4D97-AF65-F5344CB8AC3E}">
        <p14:creationId xmlns:p14="http://schemas.microsoft.com/office/powerpoint/2010/main" val="177097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36D53-2933-D8BC-6EE4-3DA3B092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FFAE4-B7ED-EEBF-66E9-A697DA19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768" y="229480"/>
            <a:ext cx="6384758" cy="884406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Aptos" panose="020B0004020202020204" pitchFamily="34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2E153C-DB23-014C-9E54-F7A998281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389" y="930571"/>
            <a:ext cx="11020927" cy="550484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ptos" panose="020B0004020202020204" pitchFamily="34" charset="0"/>
              </a:rPr>
              <a:t>Обработаны ряды температуры и течений за 10 суток, выполнены синхронизация и фильтрация.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ptos" panose="020B0004020202020204" pitchFamily="34" charset="0"/>
              </a:rPr>
              <a:t>Рассчитан профиль частоты </a:t>
            </a:r>
            <a:r>
              <a:rPr lang="ru-RU" sz="2400" dirty="0" err="1">
                <a:latin typeface="Aptos" panose="020B0004020202020204" pitchFamily="34" charset="0"/>
              </a:rPr>
              <a:t>Вяйсяля</a:t>
            </a:r>
            <a:r>
              <a:rPr lang="ru-RU" sz="2400" dirty="0">
                <a:latin typeface="Aptos" panose="020B0004020202020204" pitchFamily="34" charset="0"/>
              </a:rPr>
              <a:t>–Брента: максимум 25.8 цикл/ч (период 2.3 мин).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ptos" panose="020B0004020202020204" pitchFamily="34" charset="0"/>
              </a:rPr>
              <a:t>Выявлена двухслойная структура течений: северо-западный перенос в верхней части и инерционные вращения в придонном слое.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ptos" panose="020B0004020202020204" pitchFamily="34" charset="0"/>
              </a:rPr>
              <a:t>Спектры вертикальных смещений изотерм имеют наклон ≈ –1.8, уровень PSD ниже модели Гарретта–Манка в 5–12 раз – типично для Черного моря.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ptos" panose="020B0004020202020204" pitchFamily="34" charset="0"/>
              </a:rPr>
              <a:t>Выделение индивидуальных короткопериодных волн и анализ цугов находятся в стадии доработки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Aptos" panose="020B0004020202020204" pitchFamily="34" charset="0"/>
              </a:rPr>
              <a:t>Полученные результаты могут быть использованы для верификации моделей и прогноза гидродинамических условий на шельфе.</a:t>
            </a:r>
          </a:p>
          <a:p>
            <a:pPr marL="0" indent="0">
              <a:buNone/>
            </a:pPr>
            <a:endParaRPr lang="ru-RU" sz="2200" dirty="0">
              <a:latin typeface="Aptos" panose="020B0004020202020204" pitchFamily="34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0333C99-1280-4FBA-D213-69CF0D547012}"/>
              </a:ext>
            </a:extLst>
          </p:cNvPr>
          <p:cNvSpPr txBox="1">
            <a:spLocks/>
          </p:cNvSpPr>
          <p:nvPr/>
        </p:nvSpPr>
        <p:spPr>
          <a:xfrm>
            <a:off x="0" y="6237413"/>
            <a:ext cx="641685" cy="620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AB36FD-66FA-717F-DD3E-19AB9A9D9FC1}"/>
              </a:ext>
            </a:extLst>
          </p:cNvPr>
          <p:cNvSpPr txBox="1"/>
          <p:nvPr/>
        </p:nvSpPr>
        <p:spPr>
          <a:xfrm>
            <a:off x="641684" y="2869811"/>
            <a:ext cx="43755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ru-RU" sz="2100" dirty="0">
                <a:latin typeface="Aptos" panose="020B0004020202020204" pitchFamily="34" charset="0"/>
              </a:rPr>
            </a:br>
            <a:endParaRPr lang="ru-RU" sz="21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304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6510-2A54-E78C-B202-50D79892F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1C3FF-4CD0-9D41-0002-1896E187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089" y="1739502"/>
            <a:ext cx="8313821" cy="3378995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Aptos" panose="020B0004020202020204" pitchFamily="34" charset="0"/>
              </a:rPr>
              <a:t>Спасибо за внимание!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4C7AF-ACAF-2AC2-E335-91E494F95FDC}"/>
              </a:ext>
            </a:extLst>
          </p:cNvPr>
          <p:cNvSpPr txBox="1"/>
          <p:nvPr/>
        </p:nvSpPr>
        <p:spPr>
          <a:xfrm>
            <a:off x="641684" y="2869811"/>
            <a:ext cx="43755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br>
              <a:rPr lang="ru-RU" sz="2100" dirty="0">
                <a:latin typeface="Aptos" panose="020B0004020202020204" pitchFamily="34" charset="0"/>
              </a:rPr>
            </a:br>
            <a:endParaRPr lang="ru-RU" sz="21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510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4C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5EAF5-8F08-37DE-A032-1DCED469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79D62-BCB4-8F93-3BE2-A604EF76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121" y="46165"/>
            <a:ext cx="2057461" cy="88440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TEOS-10</a:t>
            </a:r>
            <a:endParaRPr lang="ru-RU" sz="3600" b="1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3EC32-E080-0514-3411-7FD978F1C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387" y="722023"/>
                <a:ext cx="11020927" cy="571086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TEOS‑10 (The International </a:t>
                </a:r>
                <a:r>
                  <a:rPr lang="ru-RU" sz="2200" dirty="0" err="1">
                    <a:latin typeface="Aptos" panose="020B0004020202020204" pitchFamily="34" charset="0"/>
                  </a:rPr>
                  <a:t>Thermodynamic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Equation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of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Seawater</a:t>
                </a:r>
                <a:r>
                  <a:rPr lang="ru-RU" sz="2200" dirty="0">
                    <a:latin typeface="Aptos" panose="020B0004020202020204" pitchFamily="34" charset="0"/>
                  </a:rPr>
                  <a:t> – 2010) – международный стандарт термодинамических свойств морской воды, принятый в 2010 году Межправительственной океанографической комиссией [1]. Стандарт пришёл на смену EOS‑80 и вводит абсолютную солёность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и консервативную температуру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/>
                      <m:t>Θ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как основные переменные, что обеспечивает термодинамически самосогласованный расчёт плотности и теплосодержания.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Aptos" panose="020B0004020202020204" pitchFamily="34" charset="0"/>
                  </a:rPr>
                  <a:t>Расчёт плотности выполнялся в три этапа:</a:t>
                </a:r>
              </a:p>
              <a:p>
                <a:pPr lvl="0"/>
                <a:r>
                  <a:rPr lang="ru-RU" sz="2200" dirty="0">
                    <a:latin typeface="Aptos" panose="020B0004020202020204" pitchFamily="34" charset="0"/>
                  </a:rPr>
                  <a:t>Практическая солёность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𝑃</m:t>
                        </m:r>
                      </m:sub>
                    </m:sSub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, давление </a:t>
                </a:r>
                <a14:m>
                  <m:oMath xmlns:m="http://schemas.openxmlformats.org/officeDocument/2006/math">
                    <m:r>
                      <a:rPr lang="ru-RU" sz="2200" i="1"/>
                      <m:t>𝑝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(</a:t>
                </a:r>
                <a:r>
                  <a:rPr lang="ru-RU" sz="2200" dirty="0" err="1">
                    <a:latin typeface="Aptos" panose="020B0004020202020204" pitchFamily="34" charset="0"/>
                  </a:rPr>
                  <a:t>дбар</a:t>
                </a:r>
                <a:r>
                  <a:rPr lang="ru-RU" sz="2200" dirty="0">
                    <a:latin typeface="Aptos" panose="020B0004020202020204" pitchFamily="34" charset="0"/>
                  </a:rPr>
                  <a:t>), географические координаты</a:t>
                </a:r>
                <a14:m>
                  <m:oMath xmlns:m="http://schemas.openxmlformats.org/officeDocument/2006/math">
                    <m:r>
                      <a:rPr lang="ru-RU" sz="2200" i="1"/>
                      <m:t>(</m:t>
                    </m:r>
                    <m:r>
                      <a:rPr lang="ru-RU" sz="2200" i="1"/>
                      <m:t>𝜑</m:t>
                    </m:r>
                    <m:r>
                      <a:rPr lang="ru-RU" sz="2200" i="1"/>
                      <m:t>, </m:t>
                    </m:r>
                    <m:r>
                      <a:rPr lang="ru-RU" sz="2200" i="1"/>
                      <m:t>𝜆</m:t>
                    </m:r>
                    <m:r>
                      <a:rPr lang="ru-RU" sz="2200" i="1"/>
                      <m:t>) 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→ абсолютная солёность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(г/кг):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  <m:r>
                      <a:rPr lang="ru-RU" sz="2200" i="1"/>
                      <m:t>=</m:t>
                    </m:r>
                    <m:r>
                      <a:rPr lang="ru-RU" sz="2200" i="1"/>
                      <m:t>𝑓</m:t>
                    </m:r>
                    <m:r>
                      <a:rPr lang="ru-RU" sz="2200" i="1"/>
                      <m:t>(</m:t>
                    </m:r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𝑃</m:t>
                        </m:r>
                      </m:sub>
                    </m:sSub>
                    <m:r>
                      <a:rPr lang="ru-RU" sz="2200" i="1"/>
                      <m:t>, </m:t>
                    </m:r>
                    <m:r>
                      <a:rPr lang="ru-RU" sz="2200" i="1"/>
                      <m:t>𝑝</m:t>
                    </m:r>
                    <m:r>
                      <a:rPr lang="ru-RU" sz="2200" i="1"/>
                      <m:t>, </m:t>
                    </m:r>
                    <m:r>
                      <a:rPr lang="ru-RU" sz="2200" i="1"/>
                      <m:t>𝜆</m:t>
                    </m:r>
                    <m:r>
                      <a:rPr lang="ru-RU" sz="2200" i="1"/>
                      <m:t>, </m:t>
                    </m:r>
                    <m:r>
                      <a:rPr lang="ru-RU" sz="2200" i="1"/>
                      <m:t>𝜑</m:t>
                    </m:r>
                    <m:r>
                      <a:rPr lang="ru-RU" sz="2200" i="1"/>
                      <m:t>)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, температура </a:t>
                </a:r>
                <a:r>
                  <a:rPr lang="ru-RU" sz="2200" dirty="0" err="1">
                    <a:latin typeface="Aptos" panose="020B0004020202020204" pitchFamily="34" charset="0"/>
                  </a:rPr>
                  <a:t>in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situ</a:t>
                </a:r>
                <a:r>
                  <a:rPr lang="ru-RU" sz="2200" dirty="0">
                    <a:latin typeface="Aptos" panose="020B0004020202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ru-RU" sz="2200" i="1"/>
                      <m:t>𝑇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(°C), давление </a:t>
                </a:r>
                <a14:m>
                  <m:oMath xmlns:m="http://schemas.openxmlformats.org/officeDocument/2006/math">
                    <m:r>
                      <a:rPr lang="ru-RU" sz="2200" i="1"/>
                      <m:t>𝑝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→ консервативная температура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/>
                      <m:t>Θ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(°C):</a:t>
                </a:r>
                <a:br>
                  <a:rPr lang="ru-RU" sz="2200" dirty="0">
                    <a:latin typeface="Aptos" panose="020B0004020202020204" pitchFamily="34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/>
                      <m:t>Θ</m:t>
                    </m:r>
                    <m:r>
                      <a:rPr lang="ru-RU" sz="2200" i="1"/>
                      <m:t>=</m:t>
                    </m:r>
                    <m:r>
                      <a:rPr lang="ru-RU" sz="2200" i="1"/>
                      <m:t>𝑓</m:t>
                    </m:r>
                    <m:r>
                      <a:rPr lang="ru-RU" sz="2200" i="1"/>
                      <m:t>(</m:t>
                    </m:r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  <m:r>
                      <a:rPr lang="ru-RU" sz="2200" i="1"/>
                      <m:t>, </m:t>
                    </m:r>
                    <m:r>
                      <a:rPr lang="ru-RU" sz="2200" i="1"/>
                      <m:t>𝑇</m:t>
                    </m:r>
                    <m:r>
                      <a:rPr lang="ru-RU" sz="2200" i="1"/>
                      <m:t>, </m:t>
                    </m:r>
                    <m:r>
                      <a:rPr lang="ru-RU" sz="2200" i="1"/>
                      <m:t>𝑝</m:t>
                    </m:r>
                    <m:r>
                      <a:rPr lang="ru-RU" sz="2200" i="1"/>
                      <m:t>)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,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200"/>
                      <m:t>Θ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, </a:t>
                </a:r>
                <a14:m>
                  <m:oMath xmlns:m="http://schemas.openxmlformats.org/officeDocument/2006/math">
                    <m:r>
                      <a:rPr lang="ru-RU" sz="2200" i="1"/>
                      <m:t>𝑝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→ плотность </a:t>
                </a:r>
                <a14:m>
                  <m:oMath xmlns:m="http://schemas.openxmlformats.org/officeDocument/2006/math">
                    <m:r>
                      <a:rPr lang="ru-RU" sz="2200" i="1"/>
                      <m:t>𝜌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 (кг/м³): </a:t>
                </a:r>
                <a14:m>
                  <m:oMath xmlns:m="http://schemas.openxmlformats.org/officeDocument/2006/math">
                    <m:r>
                      <a:rPr lang="ru-RU" sz="2200" i="1"/>
                      <m:t>𝜌</m:t>
                    </m:r>
                    <m:r>
                      <a:rPr lang="ru-RU" sz="2200" i="1"/>
                      <m:t>=</m:t>
                    </m:r>
                    <m:r>
                      <a:rPr lang="ru-RU" sz="2200" i="1"/>
                      <m:t>𝑓</m:t>
                    </m:r>
                    <m:r>
                      <a:rPr lang="ru-RU" sz="2200" i="1"/>
                      <m:t>(</m:t>
                    </m:r>
                    <m:sSub>
                      <m:sSubPr>
                        <m:ctrlPr>
                          <a:rPr lang="ru-RU" sz="2200" i="1"/>
                        </m:ctrlPr>
                      </m:sSubPr>
                      <m:e>
                        <m:r>
                          <a:rPr lang="ru-RU" sz="2200" i="1"/>
                          <m:t>𝑆</m:t>
                        </m:r>
                      </m:e>
                      <m:sub>
                        <m:r>
                          <a:rPr lang="ru-RU" sz="2200" i="1"/>
                          <m:t>𝐴</m:t>
                        </m:r>
                      </m:sub>
                    </m:sSub>
                    <m:r>
                      <a:rPr lang="ru-RU" sz="2200" i="1"/>
                      <m:t>, </m:t>
                    </m:r>
                    <m:r>
                      <m:rPr>
                        <m:sty m:val="p"/>
                      </m:rPr>
                      <a:rPr lang="ru-RU" sz="2200"/>
                      <m:t>Θ</m:t>
                    </m:r>
                    <m:r>
                      <a:rPr lang="ru-RU" sz="2200" i="1"/>
                      <m:t>,</m:t>
                    </m:r>
                    <m:r>
                      <a:rPr lang="ru-RU" sz="2200"/>
                      <m:t> </m:t>
                    </m:r>
                    <m:r>
                      <a:rPr lang="ru-RU" sz="2200" i="1"/>
                      <m:t>𝑝</m:t>
                    </m:r>
                    <m:r>
                      <a:rPr lang="ru-RU" sz="2200" i="1"/>
                      <m:t>)</m:t>
                    </m:r>
                  </m:oMath>
                </a14:m>
                <a:r>
                  <a:rPr lang="ru-RU" sz="2200" dirty="0">
                    <a:latin typeface="Aptos" panose="020B0004020202020204" pitchFamily="34" charset="0"/>
                  </a:rPr>
                  <a:t>.</a:t>
                </a:r>
              </a:p>
              <a:p>
                <a:r>
                  <a:rPr lang="ru-RU" sz="2200" dirty="0">
                    <a:latin typeface="Aptos" panose="020B0004020202020204" pitchFamily="34" charset="0"/>
                  </a:rPr>
                  <a:t>Все вычисления выполнялись с использованием библиотеки GSW (</a:t>
                </a:r>
                <a:r>
                  <a:rPr lang="ru-RU" sz="2200" dirty="0" err="1">
                    <a:latin typeface="Aptos" panose="020B0004020202020204" pitchFamily="34" charset="0"/>
                  </a:rPr>
                  <a:t>Gibbs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SeaWater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Oceanographic</a:t>
                </a:r>
                <a:r>
                  <a:rPr lang="ru-RU" sz="2200" dirty="0">
                    <a:latin typeface="Aptos" panose="020B0004020202020204" pitchFamily="34" charset="0"/>
                  </a:rPr>
                  <a:t> </a:t>
                </a:r>
                <a:r>
                  <a:rPr lang="ru-RU" sz="2200" dirty="0" err="1">
                    <a:latin typeface="Aptos" panose="020B0004020202020204" pitchFamily="34" charset="0"/>
                  </a:rPr>
                  <a:t>Toolbox</a:t>
                </a:r>
                <a:r>
                  <a:rPr lang="ru-RU" sz="2200" dirty="0">
                    <a:latin typeface="Aptos" panose="020B0004020202020204" pitchFamily="34" charset="0"/>
                  </a:rPr>
                  <a:t>), реализующей стандарт TEOS‑10 [1]. </a:t>
                </a:r>
                <a:endParaRPr lang="en-US" sz="22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Aptos" panose="020B0004020202020204" pitchFamily="34" charset="0"/>
                  </a:rPr>
                  <a:t>1. IOC, SCOR, IAPSO. The international thermodynamic equation of seawater – 2010. UNESCO, 2010. 196 p. URL: https://www.teos-10.org</a:t>
                </a:r>
                <a:endParaRPr lang="ru-RU" sz="18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3EC32-E080-0514-3411-7FD978F1C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387" y="722023"/>
                <a:ext cx="11020927" cy="5710861"/>
              </a:xfrm>
              <a:blipFill>
                <a:blip r:embed="rId3"/>
                <a:stretch>
                  <a:fillRect l="-719" t="-1174" b="-5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91E35E-3D60-A43D-E385-6B8B3B34263D}"/>
              </a:ext>
            </a:extLst>
          </p:cNvPr>
          <p:cNvSpPr txBox="1">
            <a:spLocks/>
          </p:cNvSpPr>
          <p:nvPr/>
        </p:nvSpPr>
        <p:spPr>
          <a:xfrm>
            <a:off x="0" y="6237413"/>
            <a:ext cx="641685" cy="620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6469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656</TotalTime>
  <Words>2107</Words>
  <Application>Microsoft Office PowerPoint</Application>
  <PresentationFormat>Широкоэкранный</PresentationFormat>
  <Paragraphs>229</Paragraphs>
  <Slides>20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 Math</vt:lpstr>
      <vt:lpstr>Times New Roman</vt:lpstr>
      <vt:lpstr>Тема Office 2013–2022</vt:lpstr>
      <vt:lpstr>ОТЧЕТ по прохождению производственной (преддипломной) практики ц Направление подготовки/специальность: 01.03.02 «Прикладная математика и информатика» (Код и наименование направления подготовки) ц Образовательная программа: «Математическое моделирование и компьютерные технологии» ц Тема: «Анализ особенностей гидрофизических полей в северо-восточной части Черного моря на основе данных натурных измерений»</vt:lpstr>
      <vt:lpstr>Объект, предмет, актуальность исследования</vt:lpstr>
      <vt:lpstr>Задачи исследования</vt:lpstr>
      <vt:lpstr>Внутренние волны</vt:lpstr>
      <vt:lpstr>Район наблюдений</vt:lpstr>
      <vt:lpstr>Используемые приборы</vt:lpstr>
      <vt:lpstr>Предварительная обработка данных</vt:lpstr>
      <vt:lpstr>Построение временно-глубинных полей температуры и плотности</vt:lpstr>
      <vt:lpstr>Диапазон внутренних волн. Расчет частоты Вяйсяля Брента</vt:lpstr>
      <vt:lpstr>Построение спектров, PSD и модели Гарретта-Манка</vt:lpstr>
      <vt:lpstr>Режим течений по данным ADCP</vt:lpstr>
      <vt:lpstr>Режим течений по данным ADCP</vt:lpstr>
      <vt:lpstr>Короткопериодные волны: статистика</vt:lpstr>
      <vt:lpstr>Короткопериодные волны: гистограммы</vt:lpstr>
      <vt:lpstr>Повторяемость волн на разных изотермах и их спектры</vt:lpstr>
      <vt:lpstr>Короткопериодные волны: цуги, сравнение</vt:lpstr>
      <vt:lpstr>Короткопериодные волны: сравнение</vt:lpstr>
      <vt:lpstr>Выводы</vt:lpstr>
      <vt:lpstr>Спасибо за внимание!</vt:lpstr>
      <vt:lpstr>TEOS-10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Софья Котова</dc:creator>
  <cp:lastModifiedBy>Лилия Лагунова</cp:lastModifiedBy>
  <cp:revision>11</cp:revision>
  <dcterms:created xsi:type="dcterms:W3CDTF">2026-04-14T17:44:13Z</dcterms:created>
  <dcterms:modified xsi:type="dcterms:W3CDTF">2026-05-20T15:12:54Z</dcterms:modified>
</cp:coreProperties>
</file>